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68" r:id="rId3"/>
    <p:sldId id="258" r:id="rId4"/>
    <p:sldId id="257" r:id="rId5"/>
    <p:sldId id="269" r:id="rId6"/>
    <p:sldId id="271" r:id="rId7"/>
    <p:sldId id="270" r:id="rId8"/>
    <p:sldId id="272" r:id="rId9"/>
    <p:sldId id="273" r:id="rId10"/>
    <p:sldId id="274" r:id="rId11"/>
    <p:sldId id="275" r:id="rId12"/>
    <p:sldId id="276" r:id="rId13"/>
    <p:sldId id="278" r:id="rId14"/>
    <p:sldId id="277" r:id="rId15"/>
    <p:sldId id="279" r:id="rId16"/>
    <p:sldId id="281" r:id="rId17"/>
    <p:sldId id="280" r:id="rId18"/>
    <p:sldId id="282" r:id="rId19"/>
    <p:sldId id="264" r:id="rId20"/>
    <p:sldId id="267"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he1wWgYMlsTmwPP8JtiEZSoLZ/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9EECCA-3B2E-439E-A9FE-AE0BB2C482AD}">
  <a:tblStyle styleId="{B49EECCA-3B2E-439E-A9FE-AE0BB2C482AD}"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it-IT"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A5011AAC-A34E-0DC8-D163-44B26F56B3FA}"/>
            </a:ext>
          </a:extLst>
        </p:cNvPr>
        <p:cNvGrpSpPr/>
        <p:nvPr/>
      </p:nvGrpSpPr>
      <p:grpSpPr>
        <a:xfrm>
          <a:off x="0" y="0"/>
          <a:ext cx="0" cy="0"/>
          <a:chOff x="0" y="0"/>
          <a:chExt cx="0" cy="0"/>
        </a:xfrm>
      </p:grpSpPr>
      <p:sp>
        <p:nvSpPr>
          <p:cNvPr id="100" name="Google Shape;100;p2:notes">
            <a:extLst>
              <a:ext uri="{FF2B5EF4-FFF2-40B4-BE49-F238E27FC236}">
                <a16:creationId xmlns:a16="http://schemas.microsoft.com/office/drawing/2014/main" id="{D2B357E7-F845-17D7-6584-DF2E48FEF9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a:extLst>
              <a:ext uri="{FF2B5EF4-FFF2-40B4-BE49-F238E27FC236}">
                <a16:creationId xmlns:a16="http://schemas.microsoft.com/office/drawing/2014/main" id="{D4E4053F-A320-4765-C192-29D3B214AE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Preferire un carattere sans serif come Arial, Helvetica o Verdana. Font consigliabile da 30 a 40 pt.</a:t>
            </a:r>
            <a:endParaRPr/>
          </a:p>
          <a:p>
            <a:pPr marL="0" marR="0" lvl="0" indent="0" algn="l" rtl="0">
              <a:lnSpc>
                <a:spcPct val="100000"/>
              </a:lnSpc>
              <a:spcBef>
                <a:spcPts val="0"/>
              </a:spcBef>
              <a:spcAft>
                <a:spcPts val="0"/>
              </a:spcAft>
              <a:buClr>
                <a:schemeClr val="dk1"/>
              </a:buClr>
              <a:buSzPts val="1200"/>
              <a:buFont typeface="Calibri"/>
              <a:buNone/>
            </a:pPr>
            <a:r>
              <a:rPr lang="it-IT" sz="1200" b="0" i="0" u="none" strike="noStrike">
                <a:solidFill>
                  <a:schemeClr val="dk1"/>
                </a:solidFill>
                <a:latin typeface="Calibri"/>
                <a:ea typeface="Calibri"/>
                <a:cs typeface="Calibri"/>
                <a:sym typeface="Calibri"/>
              </a:rPr>
              <a:t>Allineare i testi a sinistra, non giustificarli. </a:t>
            </a:r>
            <a:endParaRPr/>
          </a:p>
          <a:p>
            <a:pPr marL="0" marR="0" lvl="0" indent="0" algn="l" rtl="0">
              <a:lnSpc>
                <a:spcPct val="100000"/>
              </a:lnSpc>
              <a:spcBef>
                <a:spcPts val="0"/>
              </a:spcBef>
              <a:spcAft>
                <a:spcPts val="0"/>
              </a:spcAft>
              <a:buClr>
                <a:schemeClr val="dk1"/>
              </a:buClr>
              <a:buSzPts val="1200"/>
              <a:buFont typeface="Calibri"/>
              <a:buNone/>
            </a:pPr>
            <a:r>
              <a:rPr lang="it-IT" sz="1200" b="0" i="0" u="none" strike="noStrike">
                <a:solidFill>
                  <a:schemeClr val="dk1"/>
                </a:solidFill>
                <a:latin typeface="Calibri"/>
                <a:ea typeface="Calibri"/>
                <a:cs typeface="Calibri"/>
                <a:sym typeface="Calibri"/>
              </a:rPr>
              <a:t>Utilizzare non più di tre blocchi di informazione di massimo 2/3 righe ciascuno.</a:t>
            </a:r>
            <a:endParaRPr/>
          </a:p>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Per evidenziare titoli o parole chiave, prediligere l’uso del grassetto a corsivo o colori. </a:t>
            </a:r>
            <a:endParaRPr sz="1200" b="0" i="0" u="none" strike="noStrik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it-IT" sz="1200" b="0" i="0" u="none" strike="noStrike">
                <a:solidFill>
                  <a:schemeClr val="dk1"/>
                </a:solidFill>
                <a:latin typeface="Calibri"/>
                <a:ea typeface="Calibri"/>
                <a:cs typeface="Calibri"/>
                <a:sym typeface="Calibri"/>
              </a:rPr>
              <a:t>Prediligere testo nero su sfondo bianco.</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Evitare ombre, sfumature e gradazioni di grigio.</a:t>
            </a:r>
            <a:endParaRPr/>
          </a:p>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Secondo le linee guida sull’accessibilità, prestare attenzione ai contrasti tra i colori di sfondo e il testo.</a:t>
            </a:r>
            <a:endParaRPr/>
          </a:p>
        </p:txBody>
      </p:sp>
      <p:sp>
        <p:nvSpPr>
          <p:cNvPr id="102" name="Google Shape;102;p2:notes">
            <a:extLst>
              <a:ext uri="{FF2B5EF4-FFF2-40B4-BE49-F238E27FC236}">
                <a16:creationId xmlns:a16="http://schemas.microsoft.com/office/drawing/2014/main" id="{8FCB2CB6-A43A-85A5-BFAC-96D8684A052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2</a:t>
            </a:fld>
            <a:endParaRPr/>
          </a:p>
        </p:txBody>
      </p:sp>
    </p:spTree>
    <p:extLst>
      <p:ext uri="{BB962C8B-B14F-4D97-AF65-F5344CB8AC3E}">
        <p14:creationId xmlns:p14="http://schemas.microsoft.com/office/powerpoint/2010/main" val="1846172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Preferire un carattere sans serif come Arial, Helvetica o Verdana. Font consigliabile da 30 a 40 pt.</a:t>
            </a:r>
            <a:endParaRPr/>
          </a:p>
          <a:p>
            <a:pPr marL="0" marR="0" lvl="0" indent="0" algn="l" rtl="0">
              <a:lnSpc>
                <a:spcPct val="100000"/>
              </a:lnSpc>
              <a:spcBef>
                <a:spcPts val="0"/>
              </a:spcBef>
              <a:spcAft>
                <a:spcPts val="0"/>
              </a:spcAft>
              <a:buClr>
                <a:schemeClr val="dk1"/>
              </a:buClr>
              <a:buSzPts val="1200"/>
              <a:buFont typeface="Calibri"/>
              <a:buNone/>
            </a:pPr>
            <a:r>
              <a:rPr lang="it-IT" sz="1200" b="0" i="0" u="none" strike="noStrike">
                <a:solidFill>
                  <a:schemeClr val="dk1"/>
                </a:solidFill>
                <a:latin typeface="Calibri"/>
                <a:ea typeface="Calibri"/>
                <a:cs typeface="Calibri"/>
                <a:sym typeface="Calibri"/>
              </a:rPr>
              <a:t>Allineare i testi a sinistra, non giustificarli. </a:t>
            </a:r>
            <a:endParaRPr/>
          </a:p>
          <a:p>
            <a:pPr marL="0" marR="0" lvl="0" indent="0" algn="l" rtl="0">
              <a:lnSpc>
                <a:spcPct val="100000"/>
              </a:lnSpc>
              <a:spcBef>
                <a:spcPts val="0"/>
              </a:spcBef>
              <a:spcAft>
                <a:spcPts val="0"/>
              </a:spcAft>
              <a:buClr>
                <a:schemeClr val="dk1"/>
              </a:buClr>
              <a:buSzPts val="1200"/>
              <a:buFont typeface="Calibri"/>
              <a:buNone/>
            </a:pPr>
            <a:r>
              <a:rPr lang="it-IT" sz="1200" b="0" i="0" u="none" strike="noStrike">
                <a:solidFill>
                  <a:schemeClr val="dk1"/>
                </a:solidFill>
                <a:latin typeface="Calibri"/>
                <a:ea typeface="Calibri"/>
                <a:cs typeface="Calibri"/>
                <a:sym typeface="Calibri"/>
              </a:rPr>
              <a:t>Utilizzare non più di tre blocchi di informazione di massimo 2/3 righe ciascuno.</a:t>
            </a:r>
            <a:endParaRPr/>
          </a:p>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Per evidenziare titoli o parole chiave, prediligere l’uso del grassetto a corsivo o colori. </a:t>
            </a:r>
            <a:endParaRPr sz="1200" b="0" i="0" u="none" strike="noStrik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it-IT" sz="1200" b="0" i="0" u="none" strike="noStrike">
                <a:solidFill>
                  <a:schemeClr val="dk1"/>
                </a:solidFill>
                <a:latin typeface="Calibri"/>
                <a:ea typeface="Calibri"/>
                <a:cs typeface="Calibri"/>
                <a:sym typeface="Calibri"/>
              </a:rPr>
              <a:t>Prediligere testo nero su sfondo bianco.</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Evitare ombre, sfumature e gradazioni di grigio.</a:t>
            </a:r>
            <a:endParaRPr/>
          </a:p>
          <a:p>
            <a:pPr marL="0" lvl="0" indent="0" algn="l" rtl="0">
              <a:spcBef>
                <a:spcPts val="0"/>
              </a:spcBef>
              <a:spcAft>
                <a:spcPts val="0"/>
              </a:spcAft>
              <a:buNone/>
            </a:pPr>
            <a:r>
              <a:rPr lang="it-IT" sz="1200" b="0" i="0" u="none" strike="noStrike">
                <a:solidFill>
                  <a:schemeClr val="dk1"/>
                </a:solidFill>
                <a:latin typeface="Calibri"/>
                <a:ea typeface="Calibri"/>
                <a:cs typeface="Calibri"/>
                <a:sym typeface="Calibri"/>
              </a:rPr>
              <a:t>Secondo le linee guida sull’accessibilità, prestare attenzione ai contrasti tra i colori di sfondo e il testo.</a:t>
            </a:r>
            <a:endParaRPr/>
          </a:p>
        </p:txBody>
      </p:sp>
      <p:sp>
        <p:nvSpPr>
          <p:cNvPr id="102" name="Google Shape;10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75C9D9E-3569-9981-B684-12CD374DE2C2}"/>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CE564CB0-BFC0-1553-4F40-DF617F5C05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794962E4-4ED5-2143-ED7E-D3213DC2BE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1B40277B-1B02-7F5F-4C67-C8FEB0FB65A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5</a:t>
            </a:fld>
            <a:endParaRPr/>
          </a:p>
        </p:txBody>
      </p:sp>
    </p:spTree>
    <p:extLst>
      <p:ext uri="{BB962C8B-B14F-4D97-AF65-F5344CB8AC3E}">
        <p14:creationId xmlns:p14="http://schemas.microsoft.com/office/powerpoint/2010/main" val="4151942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ADD7604-84A0-70D0-EE96-D4C521CC0DF7}"/>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811384A0-6E41-2C2A-11BE-C790772780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9A690E9A-9EDF-B2F3-A1FE-B6F5027C5A3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CC82EE5B-1F36-1541-DCFF-153289C9A6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6</a:t>
            </a:fld>
            <a:endParaRPr/>
          </a:p>
        </p:txBody>
      </p:sp>
    </p:spTree>
    <p:extLst>
      <p:ext uri="{BB962C8B-B14F-4D97-AF65-F5344CB8AC3E}">
        <p14:creationId xmlns:p14="http://schemas.microsoft.com/office/powerpoint/2010/main" val="693650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6915DD3-99E3-2ED2-4942-A5961CC6A319}"/>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B3D54A44-9788-70B8-F65C-763409B0B6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1A5DEA83-78DC-B9FF-1A75-C209CF1F6C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A9028FD9-0A3D-94E2-07FD-65FB28C7BC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7</a:t>
            </a:fld>
            <a:endParaRPr/>
          </a:p>
        </p:txBody>
      </p:sp>
    </p:spTree>
    <p:extLst>
      <p:ext uri="{BB962C8B-B14F-4D97-AF65-F5344CB8AC3E}">
        <p14:creationId xmlns:p14="http://schemas.microsoft.com/office/powerpoint/2010/main" val="2680660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22B4D2D-A92B-7D27-05D9-298915470D87}"/>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81A51CF1-93B9-0B1D-0A85-098CE24F81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8A80070A-8710-DAE5-8B3B-04F7CF7E41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2A0ACA78-8DD8-171D-EB7D-AA784C3A06B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8</a:t>
            </a:fld>
            <a:endParaRPr/>
          </a:p>
        </p:txBody>
      </p:sp>
    </p:spTree>
    <p:extLst>
      <p:ext uri="{BB962C8B-B14F-4D97-AF65-F5344CB8AC3E}">
        <p14:creationId xmlns:p14="http://schemas.microsoft.com/office/powerpoint/2010/main" val="3633494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950F49A-F2CB-AD80-B35B-2F7C93432290}"/>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FD593FDF-4396-1BF4-A718-EFFA7013A0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FB8053F0-B274-1CCC-4730-0CCE2C14962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425B6A40-4E14-F2DF-6DCD-5D4EBB0AEA6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9</a:t>
            </a:fld>
            <a:endParaRPr/>
          </a:p>
        </p:txBody>
      </p:sp>
    </p:spTree>
    <p:extLst>
      <p:ext uri="{BB962C8B-B14F-4D97-AF65-F5344CB8AC3E}">
        <p14:creationId xmlns:p14="http://schemas.microsoft.com/office/powerpoint/2010/main" val="3110236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2D2A6EC-6A7B-9F56-A0CE-3168BDAD578B}"/>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046F4CA0-C38C-2C96-6CDD-BBA5E43995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D3D37DC2-12EC-D933-6142-42E37130500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F60D0B8A-4EA2-4A80-EE63-E1406118B85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10</a:t>
            </a:fld>
            <a:endParaRPr/>
          </a:p>
        </p:txBody>
      </p:sp>
    </p:spTree>
    <p:extLst>
      <p:ext uri="{BB962C8B-B14F-4D97-AF65-F5344CB8AC3E}">
        <p14:creationId xmlns:p14="http://schemas.microsoft.com/office/powerpoint/2010/main" val="2458954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37F8758-51E8-23A9-7F54-DC65BD1B163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6BA41C3A-88DF-EDD1-4135-6BD7DD79E7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14EB225C-9085-3E46-CBB5-7CEEE7383F3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27916323-C24C-12B8-BA46-85B818AEA10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11</a:t>
            </a:fld>
            <a:endParaRPr/>
          </a:p>
        </p:txBody>
      </p:sp>
    </p:spTree>
    <p:extLst>
      <p:ext uri="{BB962C8B-B14F-4D97-AF65-F5344CB8AC3E}">
        <p14:creationId xmlns:p14="http://schemas.microsoft.com/office/powerpoint/2010/main" val="3532792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00C9CF7-B401-3D8A-5FBC-80749C7D85AA}"/>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770EFF16-8DE9-111C-B873-4F4849A78B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73CE26C3-1D50-EAD8-1F8D-377C28D5C8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CD3721E0-7C78-3910-1775-1707AD154DB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12</a:t>
            </a:fld>
            <a:endParaRPr/>
          </a:p>
        </p:txBody>
      </p:sp>
    </p:spTree>
    <p:extLst>
      <p:ext uri="{BB962C8B-B14F-4D97-AF65-F5344CB8AC3E}">
        <p14:creationId xmlns:p14="http://schemas.microsoft.com/office/powerpoint/2010/main" val="1023179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5F76CFC-4F9C-F6FC-5E24-7AD944CC40F8}"/>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84D918D6-8233-D0A1-0F1F-DD02B60531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5AD64B34-996A-59A8-C84B-C03629BA88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93A22C35-5D48-BE51-B19D-3E10F36A676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13</a:t>
            </a:fld>
            <a:endParaRPr/>
          </a:p>
        </p:txBody>
      </p:sp>
    </p:spTree>
    <p:extLst>
      <p:ext uri="{BB962C8B-B14F-4D97-AF65-F5344CB8AC3E}">
        <p14:creationId xmlns:p14="http://schemas.microsoft.com/office/powerpoint/2010/main" val="3704159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595D28C-516F-9BBE-BCB5-5EDCDDACE955}"/>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C1DE9809-2BDC-22CF-7A3A-A064B95A5C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775224D8-BBAC-92C5-2E6E-3B5B9A8FB8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B5BE2E3C-61C5-AF94-4865-CC2A4E5A4B5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14</a:t>
            </a:fld>
            <a:endParaRPr/>
          </a:p>
        </p:txBody>
      </p:sp>
    </p:spTree>
    <p:extLst>
      <p:ext uri="{BB962C8B-B14F-4D97-AF65-F5344CB8AC3E}">
        <p14:creationId xmlns:p14="http://schemas.microsoft.com/office/powerpoint/2010/main" val="2618867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AE8A106-0925-7ACD-6C36-8CC7179CEF4F}"/>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C1834D68-AAC1-A8F9-458C-1E5C0B2E52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A268A8E1-E687-C92E-A097-848B718B29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625FE8A6-0B76-31CB-92FE-B5A4FECDEA9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15</a:t>
            </a:fld>
            <a:endParaRPr/>
          </a:p>
        </p:txBody>
      </p:sp>
    </p:spTree>
    <p:extLst>
      <p:ext uri="{BB962C8B-B14F-4D97-AF65-F5344CB8AC3E}">
        <p14:creationId xmlns:p14="http://schemas.microsoft.com/office/powerpoint/2010/main" val="877859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C2A85F7-9CF2-13EA-506A-8E180E403B8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ED47B300-FD41-F58A-3C9F-9E6AF6615F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2FB952C9-76EC-F31F-28AE-7B8DBB80F9D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A2CB5D66-E1B1-9157-B053-A4BC4E39445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16</a:t>
            </a:fld>
            <a:endParaRPr/>
          </a:p>
        </p:txBody>
      </p:sp>
    </p:spTree>
    <p:extLst>
      <p:ext uri="{BB962C8B-B14F-4D97-AF65-F5344CB8AC3E}">
        <p14:creationId xmlns:p14="http://schemas.microsoft.com/office/powerpoint/2010/main" val="4038524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7B9ADDA-D33D-1108-A54B-6202E84930B5}"/>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77EBE6A3-904B-A1D1-F10A-2AD2BFB2C9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A78D49E7-D28F-644A-6678-CFF2DDC5E5D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3982798E-3777-69F0-7D07-56898CEE46B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17</a:t>
            </a:fld>
            <a:endParaRPr/>
          </a:p>
        </p:txBody>
      </p:sp>
    </p:spTree>
    <p:extLst>
      <p:ext uri="{BB962C8B-B14F-4D97-AF65-F5344CB8AC3E}">
        <p14:creationId xmlns:p14="http://schemas.microsoft.com/office/powerpoint/2010/main" val="1005936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72B2CD7-1044-D22D-9EA3-5D509EBC89AE}"/>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24675C0-632C-F150-9E9B-589D0A3E78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69DA6EA2-BDD6-0682-1997-14FC5A75CB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it-IT"/>
              <a:t>Utilizzare sempre i modelli di elenco forniti dal programma, quindi non realizzare elenchi solamente inserendo trattini, numeri o punti, affinché una sintesi vocale possa leggerli in ordine e proprio come elenchi.</a:t>
            </a:r>
            <a:endParaRPr/>
          </a:p>
        </p:txBody>
      </p:sp>
      <p:sp>
        <p:nvSpPr>
          <p:cNvPr id="109" name="Google Shape;109;p3:notes">
            <a:extLst>
              <a:ext uri="{FF2B5EF4-FFF2-40B4-BE49-F238E27FC236}">
                <a16:creationId xmlns:a16="http://schemas.microsoft.com/office/drawing/2014/main" id="{8FBE9F56-3A41-200C-C7D2-B434E24235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18</a:t>
            </a:fld>
            <a:endParaRPr/>
          </a:p>
        </p:txBody>
      </p:sp>
    </p:spTree>
    <p:extLst>
      <p:ext uri="{BB962C8B-B14F-4D97-AF65-F5344CB8AC3E}">
        <p14:creationId xmlns:p14="http://schemas.microsoft.com/office/powerpoint/2010/main" val="617525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it-IT"/>
              <a:t>Quando viene inserita un’immagine, può essere inserito un testo alternativo che consenta ad una sintesi vocale di leggerla, procedendo in questo modo: cliccare con tasto destro sul campo in cui è inserita l’immagine, dal menu selezionare «Formato immagine», si apre il menu a destra e si clicca sull’icona «Dimensioni e Proprietà», si seleziona «Testo Alternativo» e si inserisce la descrizione dell’immagine, come da esempio.</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it-IT"/>
              <a:t>Per immagini puramente decorative è possibile utilizzare la funzione «Testo Alternativo» specificando nella casella di testo: «Immagine decorativa». Non inserire mai testo all’interno delle immagini.</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it-IT"/>
              <a:t>Per Mac: per inserire testo alternativo cliccare con tasto destro sull’immagine, nel menu selezionare «Testo Alternativo», si apre una finestra dove è possibile inserire il testo alternativo.</a:t>
            </a:r>
            <a:endParaRPr/>
          </a:p>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153" name="Google Shape;15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olo e testo verticale">
  <p:cSld name="2_Titolo e testo verticale">
    <p:spTree>
      <p:nvGrpSpPr>
        <p:cNvPr id="1" name="Shape 15"/>
        <p:cNvGrpSpPr/>
        <p:nvPr/>
      </p:nvGrpSpPr>
      <p:grpSpPr>
        <a:xfrm>
          <a:off x="0" y="0"/>
          <a:ext cx="0" cy="0"/>
          <a:chOff x="0" y="0"/>
          <a:chExt cx="0" cy="0"/>
        </a:xfrm>
      </p:grpSpPr>
      <p:sp>
        <p:nvSpPr>
          <p:cNvPr id="16" name="Google Shape;16;p16"/>
          <p:cNvSpPr/>
          <p:nvPr/>
        </p:nvSpPr>
        <p:spPr>
          <a:xfrm>
            <a:off x="0" y="0"/>
            <a:ext cx="12192000" cy="6858000"/>
          </a:xfrm>
          <a:prstGeom prst="rect">
            <a:avLst/>
          </a:prstGeom>
          <a:solidFill>
            <a:srgbClr val="AA0004"/>
          </a:solidFill>
          <a:ln>
            <a:noFill/>
          </a:ln>
        </p:spPr>
        <p:txBody>
          <a:bodyPr spcFirstLastPara="1" wrap="square" lIns="91425" tIns="45700" rIns="360000" bIns="45700" anchor="ctr" anchorCtr="0">
            <a:noAutofit/>
          </a:bodyPr>
          <a:lstStyle/>
          <a:p>
            <a:pPr marL="0" marR="0" lvl="0" indent="0" algn="r" rtl="0">
              <a:spcBef>
                <a:spcPts val="0"/>
              </a:spcBef>
              <a:spcAft>
                <a:spcPts val="0"/>
              </a:spcAft>
              <a:buNone/>
            </a:pPr>
            <a:r>
              <a:rPr lang="it-IT" sz="2400" b="1" i="0" u="none" strike="noStrike" cap="none">
                <a:solidFill>
                  <a:schemeClr val="lt1"/>
                </a:solidFill>
                <a:latin typeface="Arial"/>
                <a:ea typeface="Arial"/>
                <a:cs typeface="Arial"/>
                <a:sym typeface="Arial"/>
              </a:rPr>
              <a:t>  </a:t>
            </a:r>
            <a:endParaRPr/>
          </a:p>
        </p:txBody>
      </p:sp>
      <p:pic>
        <p:nvPicPr>
          <p:cNvPr id="17" name="Google Shape;17;p16"/>
          <p:cNvPicPr preferRelativeResize="0"/>
          <p:nvPr/>
        </p:nvPicPr>
        <p:blipFill rotWithShape="1">
          <a:blip r:embed="rId2">
            <a:alphaModFix/>
          </a:blip>
          <a:srcRect/>
          <a:stretch/>
        </p:blipFill>
        <p:spPr>
          <a:xfrm>
            <a:off x="3741397" y="1159933"/>
            <a:ext cx="4709206" cy="2105037"/>
          </a:xfrm>
          <a:prstGeom prst="rect">
            <a:avLst/>
          </a:prstGeom>
          <a:noFill/>
          <a:ln>
            <a:noFill/>
          </a:ln>
        </p:spPr>
      </p:pic>
      <p:sp>
        <p:nvSpPr>
          <p:cNvPr id="18" name="Google Shape;18;p16"/>
          <p:cNvSpPr txBox="1">
            <a:spLocks noGrp="1"/>
          </p:cNvSpPr>
          <p:nvPr>
            <p:ph type="ctrTitle"/>
          </p:nvPr>
        </p:nvSpPr>
        <p:spPr>
          <a:xfrm>
            <a:off x="1547593" y="3285951"/>
            <a:ext cx="9096815" cy="12903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2935526" y="4741032"/>
            <a:ext cx="6320949" cy="758068"/>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lt1"/>
              </a:buClr>
              <a:buSzPts val="2800"/>
              <a:buNone/>
              <a:defRPr>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Titolo e testo verticale">
  <p:cSld name="3_Titolo e testo verticale">
    <p:spTree>
      <p:nvGrpSpPr>
        <p:cNvPr id="1" name="Shape 20"/>
        <p:cNvGrpSpPr/>
        <p:nvPr/>
      </p:nvGrpSpPr>
      <p:grpSpPr>
        <a:xfrm>
          <a:off x="0" y="0"/>
          <a:ext cx="0" cy="0"/>
          <a:chOff x="0" y="0"/>
          <a:chExt cx="0" cy="0"/>
        </a:xfrm>
      </p:grpSpPr>
      <p:sp>
        <p:nvSpPr>
          <p:cNvPr id="21" name="Google Shape;21;p17"/>
          <p:cNvSpPr/>
          <p:nvPr/>
        </p:nvSpPr>
        <p:spPr>
          <a:xfrm>
            <a:off x="-1" y="0"/>
            <a:ext cx="12192001" cy="1138767"/>
          </a:xfrm>
          <a:prstGeom prst="rect">
            <a:avLst/>
          </a:prstGeom>
          <a:solidFill>
            <a:srgbClr val="AA0004"/>
          </a:solidFill>
          <a:ln>
            <a:noFill/>
          </a:ln>
        </p:spPr>
        <p:txBody>
          <a:bodyPr spcFirstLastPara="1" wrap="square" lIns="72000" tIns="45700" rIns="360000" bIns="45700" anchor="ctr" anchorCtr="0">
            <a:noAutofit/>
          </a:bodyPr>
          <a:lstStyle/>
          <a:p>
            <a:pPr marL="0" marR="0" lvl="0" indent="0" algn="r" rtl="0">
              <a:spcBef>
                <a:spcPts val="0"/>
              </a:spcBef>
              <a:spcAft>
                <a:spcPts val="0"/>
              </a:spcAft>
              <a:buNone/>
            </a:pPr>
            <a:endParaRPr sz="2400" b="1" i="0" u="none" strike="noStrike" cap="none">
              <a:solidFill>
                <a:schemeClr val="lt1"/>
              </a:solidFill>
              <a:latin typeface="Arial"/>
              <a:ea typeface="Arial"/>
              <a:cs typeface="Arial"/>
              <a:sym typeface="Arial"/>
            </a:endParaRPr>
          </a:p>
        </p:txBody>
      </p:sp>
      <p:sp>
        <p:nvSpPr>
          <p:cNvPr id="22" name="Google Shape;22;p17"/>
          <p:cNvSpPr txBox="1">
            <a:spLocks noGrp="1"/>
          </p:cNvSpPr>
          <p:nvPr>
            <p:ph type="title"/>
          </p:nvPr>
        </p:nvSpPr>
        <p:spPr>
          <a:xfrm>
            <a:off x="456000" y="1153221"/>
            <a:ext cx="11736000" cy="1188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7"/>
          <p:cNvSpPr txBox="1">
            <a:spLocks noGrp="1"/>
          </p:cNvSpPr>
          <p:nvPr>
            <p:ph type="body" idx="1"/>
          </p:nvPr>
        </p:nvSpPr>
        <p:spPr>
          <a:xfrm>
            <a:off x="6179127" y="2592996"/>
            <a:ext cx="5663346" cy="385955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7"/>
          <p:cNvSpPr txBox="1">
            <a:spLocks noGrp="1"/>
          </p:cNvSpPr>
          <p:nvPr>
            <p:ph type="body" idx="2"/>
          </p:nvPr>
        </p:nvSpPr>
        <p:spPr>
          <a:xfrm>
            <a:off x="1215640" y="2592996"/>
            <a:ext cx="3781233" cy="179427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17"/>
          <p:cNvSpPr txBox="1">
            <a:spLocks noGrp="1"/>
          </p:cNvSpPr>
          <p:nvPr>
            <p:ph type="body" idx="3"/>
          </p:nvPr>
        </p:nvSpPr>
        <p:spPr>
          <a:xfrm>
            <a:off x="1215640" y="4777396"/>
            <a:ext cx="3781234" cy="179427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6" name="Google Shape;26;p17"/>
          <p:cNvPicPr preferRelativeResize="0"/>
          <p:nvPr/>
        </p:nvPicPr>
        <p:blipFill rotWithShape="1">
          <a:blip r:embed="rId2">
            <a:alphaModFix/>
          </a:blip>
          <a:srcRect/>
          <a:stretch/>
        </p:blipFill>
        <p:spPr>
          <a:xfrm>
            <a:off x="456000" y="147563"/>
            <a:ext cx="1885998" cy="843049"/>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olo e testo verticale">
  <p:cSld name="Titolo e testo verticale">
    <p:spTree>
      <p:nvGrpSpPr>
        <p:cNvPr id="1" name="Shape 27"/>
        <p:cNvGrpSpPr/>
        <p:nvPr/>
      </p:nvGrpSpPr>
      <p:grpSpPr>
        <a:xfrm>
          <a:off x="0" y="0"/>
          <a:ext cx="0" cy="0"/>
          <a:chOff x="0" y="0"/>
          <a:chExt cx="0" cy="0"/>
        </a:xfrm>
      </p:grpSpPr>
      <p:sp>
        <p:nvSpPr>
          <p:cNvPr id="28" name="Google Shape;28;p18"/>
          <p:cNvSpPr/>
          <p:nvPr/>
        </p:nvSpPr>
        <p:spPr>
          <a:xfrm>
            <a:off x="0" y="0"/>
            <a:ext cx="12192000" cy="6858000"/>
          </a:xfrm>
          <a:prstGeom prst="rect">
            <a:avLst/>
          </a:prstGeom>
          <a:solidFill>
            <a:srgbClr val="AA0004"/>
          </a:solidFill>
          <a:ln>
            <a:noFill/>
          </a:ln>
        </p:spPr>
        <p:txBody>
          <a:bodyPr spcFirstLastPara="1" wrap="square" lIns="91425" tIns="45700" rIns="360000" bIns="45700" anchor="ctr" anchorCtr="0">
            <a:noAutofit/>
          </a:bodyPr>
          <a:lstStyle/>
          <a:p>
            <a:pPr marL="0" marR="0" lvl="0" indent="0" algn="r" rtl="0">
              <a:spcBef>
                <a:spcPts val="0"/>
              </a:spcBef>
              <a:spcAft>
                <a:spcPts val="0"/>
              </a:spcAft>
              <a:buNone/>
            </a:pPr>
            <a:endParaRPr sz="2400" b="1">
              <a:solidFill>
                <a:schemeClr val="lt1"/>
              </a:solidFill>
              <a:latin typeface="Arial"/>
              <a:ea typeface="Arial"/>
              <a:cs typeface="Arial"/>
              <a:sym typeface="Arial"/>
            </a:endParaRPr>
          </a:p>
        </p:txBody>
      </p:sp>
      <p:pic>
        <p:nvPicPr>
          <p:cNvPr id="29" name="Google Shape;29;p18"/>
          <p:cNvPicPr preferRelativeResize="0"/>
          <p:nvPr/>
        </p:nvPicPr>
        <p:blipFill rotWithShape="1">
          <a:blip r:embed="rId2">
            <a:alphaModFix/>
          </a:blip>
          <a:srcRect/>
          <a:stretch/>
        </p:blipFill>
        <p:spPr>
          <a:xfrm>
            <a:off x="3501098" y="2269067"/>
            <a:ext cx="5189805" cy="231986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30"/>
        <p:cNvGrpSpPr/>
        <p:nvPr/>
      </p:nvGrpSpPr>
      <p:grpSpPr>
        <a:xfrm>
          <a:off x="0" y="0"/>
          <a:ext cx="0" cy="0"/>
          <a:chOff x="0" y="0"/>
          <a:chExt cx="0" cy="0"/>
        </a:xfrm>
      </p:grpSpPr>
      <p:sp>
        <p:nvSpPr>
          <p:cNvPr id="31" name="Google Shape;31;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3" name="Google Shape;3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42"/>
        <p:cNvGrpSpPr/>
        <p:nvPr/>
      </p:nvGrpSpPr>
      <p:grpSpPr>
        <a:xfrm>
          <a:off x="0" y="0"/>
          <a:ext cx="0" cy="0"/>
          <a:chOff x="0" y="0"/>
          <a:chExt cx="0" cy="0"/>
        </a:xfrm>
      </p:grpSpPr>
      <p:sp>
        <p:nvSpPr>
          <p:cNvPr id="43" name="Google Shape;43;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5" name="Google Shape;4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48"/>
        <p:cNvGrpSpPr/>
        <p:nvPr/>
      </p:nvGrpSpPr>
      <p:grpSpPr>
        <a:xfrm>
          <a:off x="0" y="0"/>
          <a:ext cx="0" cy="0"/>
          <a:chOff x="0" y="0"/>
          <a:chExt cx="0" cy="0"/>
        </a:xfrm>
      </p:grpSpPr>
      <p:sp>
        <p:nvSpPr>
          <p:cNvPr id="49" name="Google Shape;4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55"/>
        <p:cNvGrpSpPr/>
        <p:nvPr/>
      </p:nvGrpSpPr>
      <p:grpSpPr>
        <a:xfrm>
          <a:off x="0" y="0"/>
          <a:ext cx="0" cy="0"/>
          <a:chOff x="0" y="0"/>
          <a:chExt cx="0" cy="0"/>
        </a:xfrm>
      </p:grpSpPr>
      <p:sp>
        <p:nvSpPr>
          <p:cNvPr id="56" name="Google Shape;56;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69"/>
        <p:cNvGrpSpPr/>
        <p:nvPr/>
      </p:nvGrpSpPr>
      <p:grpSpPr>
        <a:xfrm>
          <a:off x="0" y="0"/>
          <a:ext cx="0" cy="0"/>
          <a:chOff x="0" y="0"/>
          <a:chExt cx="0" cy="0"/>
        </a:xfrm>
      </p:grpSpPr>
      <p:sp>
        <p:nvSpPr>
          <p:cNvPr id="70" name="Google Shape;7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73"/>
        <p:cNvGrpSpPr/>
        <p:nvPr/>
      </p:nvGrpSpPr>
      <p:grpSpPr>
        <a:xfrm>
          <a:off x="0" y="0"/>
          <a:ext cx="0" cy="0"/>
          <a:chOff x="0" y="0"/>
          <a:chExt cx="0" cy="0"/>
        </a:xfrm>
      </p:grpSpPr>
      <p:sp>
        <p:nvSpPr>
          <p:cNvPr id="74" name="Google Shape;74;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6" name="Google Shape;76;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80"/>
        <p:cNvGrpSpPr/>
        <p:nvPr/>
      </p:nvGrpSpPr>
      <p:grpSpPr>
        <a:xfrm>
          <a:off x="0" y="0"/>
          <a:ext cx="0" cy="0"/>
          <a:chOff x="0" y="0"/>
          <a:chExt cx="0" cy="0"/>
        </a:xfrm>
      </p:grpSpPr>
      <p:sp>
        <p:nvSpPr>
          <p:cNvPr id="81" name="Google Shape;81;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7"/>
          <p:cNvSpPr>
            <a:spLocks noGrp="1"/>
          </p:cNvSpPr>
          <p:nvPr>
            <p:ph type="pic" idx="2"/>
          </p:nvPr>
        </p:nvSpPr>
        <p:spPr>
          <a:xfrm>
            <a:off x="5183188" y="987425"/>
            <a:ext cx="6172200" cy="4873625"/>
          </a:xfrm>
          <a:prstGeom prst="rect">
            <a:avLst/>
          </a:prstGeom>
          <a:noFill/>
          <a:ln>
            <a:noFill/>
          </a:ln>
        </p:spPr>
      </p:sp>
      <p:sp>
        <p:nvSpPr>
          <p:cNvPr id="83" name="Google Shape;83;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4" name="Google Shape;8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 personalizzato">
  <p:cSld name="Layout personalizzato">
    <p:spTree>
      <p:nvGrpSpPr>
        <p:cNvPr id="1" name="Shape 87"/>
        <p:cNvGrpSpPr/>
        <p:nvPr/>
      </p:nvGrpSpPr>
      <p:grpSpPr>
        <a:xfrm>
          <a:off x="0" y="0"/>
          <a:ext cx="0" cy="0"/>
          <a:chOff x="0" y="0"/>
          <a:chExt cx="0" cy="0"/>
        </a:xfrm>
      </p:grpSpPr>
      <p:sp>
        <p:nvSpPr>
          <p:cNvPr id="88" name="Google Shape;88;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IT"/>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jpg"/><Relationship Id="rId7" Type="http://schemas.openxmlformats.org/officeDocument/2006/relationships/image" Target="../media/image25.jfi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jfif"/><Relationship Id="rId11" Type="http://schemas.openxmlformats.org/officeDocument/2006/relationships/image" Target="../media/image29.jfif"/><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jpg"/><Relationship Id="rId9" Type="http://schemas.openxmlformats.org/officeDocument/2006/relationships/image" Target="../media/image27.jfi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a:spLocks noGrp="1"/>
          </p:cNvSpPr>
          <p:nvPr>
            <p:ph type="ctrTitle"/>
          </p:nvPr>
        </p:nvSpPr>
        <p:spPr>
          <a:xfrm>
            <a:off x="395748" y="3797710"/>
            <a:ext cx="11400503" cy="1290388"/>
          </a:xfrm>
          <a:prstGeom prst="rect">
            <a:avLst/>
          </a:prstGeom>
          <a:noFill/>
          <a:ln>
            <a:noFill/>
          </a:ln>
        </p:spPr>
        <p:txBody>
          <a:bodyPr spcFirstLastPara="1" wrap="square" lIns="91425" tIns="45700" rIns="91425" bIns="45700" anchor="ctr" anchorCtr="0">
            <a:normAutofit fontScale="90000"/>
          </a:bodyPr>
          <a:lstStyle/>
          <a:p>
            <a:pPr lvl="0" algn="ctr"/>
            <a:r>
              <a:rPr lang="en-US" dirty="0">
                <a:latin typeface="Times New Roman" panose="02020603050405020304" pitchFamily="18" charset="0"/>
                <a:cs typeface="Times New Roman" panose="02020603050405020304" pitchFamily="18" charset="0"/>
              </a:rPr>
              <a:t>Reaction Time Analysis in a Stroop Task: Individual, Subgroup, and Group-Level Visualizations using MATLAB</a:t>
            </a:r>
            <a:endParaRPr dirty="0">
              <a:latin typeface="Times New Roman" panose="02020603050405020304" pitchFamily="18" charset="0"/>
              <a:cs typeface="Times New Roman" panose="02020603050405020304" pitchFamily="18" charset="0"/>
            </a:endParaRPr>
          </a:p>
        </p:txBody>
      </p:sp>
      <p:sp>
        <p:nvSpPr>
          <p:cNvPr id="98" name="Google Shape;98;p1"/>
          <p:cNvSpPr txBox="1">
            <a:spLocks noGrp="1"/>
          </p:cNvSpPr>
          <p:nvPr>
            <p:ph type="body" idx="1"/>
          </p:nvPr>
        </p:nvSpPr>
        <p:spPr>
          <a:xfrm>
            <a:off x="590531" y="5640684"/>
            <a:ext cx="7535830" cy="758068"/>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90000"/>
              </a:lnSpc>
              <a:spcBef>
                <a:spcPts val="0"/>
              </a:spcBef>
              <a:spcAft>
                <a:spcPts val="0"/>
              </a:spcAft>
              <a:buClr>
                <a:schemeClr val="lt1"/>
              </a:buClr>
              <a:buSzPts val="3200"/>
              <a:buNone/>
            </a:pPr>
            <a:r>
              <a:rPr lang="en-US" sz="3200" dirty="0">
                <a:latin typeface="Times New Roman" panose="02020603050405020304" pitchFamily="18" charset="0"/>
                <a:cs typeface="Times New Roman" panose="02020603050405020304" pitchFamily="18" charset="0"/>
              </a:rPr>
              <a:t>Md Jobayer</a:t>
            </a:r>
          </a:p>
          <a:p>
            <a:pPr marL="0" lvl="0" indent="0" algn="l" rtl="0">
              <a:lnSpc>
                <a:spcPct val="90000"/>
              </a:lnSpc>
              <a:spcBef>
                <a:spcPts val="0"/>
              </a:spcBef>
              <a:spcAft>
                <a:spcPts val="0"/>
              </a:spcAft>
              <a:buClr>
                <a:schemeClr val="lt1"/>
              </a:buClr>
              <a:buSzPts val="3200"/>
              <a:buNone/>
            </a:pPr>
            <a:r>
              <a:rPr lang="en-US" sz="3200" dirty="0">
                <a:latin typeface="Times New Roman" panose="02020603050405020304" pitchFamily="18" charset="0"/>
                <a:cs typeface="Times New Roman" panose="02020603050405020304" pitchFamily="18" charset="0"/>
              </a:rPr>
              <a:t>2110386</a:t>
            </a:r>
          </a:p>
          <a:p>
            <a:pPr marL="0" indent="0" algn="l">
              <a:spcBef>
                <a:spcPts val="0"/>
              </a:spcBef>
              <a:buSzPts val="3200"/>
            </a:pPr>
            <a:r>
              <a:rPr lang="en-US" dirty="0">
                <a:latin typeface="Times New Roman" panose="02020603050405020304" pitchFamily="18" charset="0"/>
                <a:cs typeface="Times New Roman" panose="02020603050405020304" pitchFamily="18" charset="0"/>
              </a:rPr>
              <a:t>MATLAB AND COMPUTATIONAL COGNITION 2025-2026</a:t>
            </a:r>
          </a:p>
          <a:p>
            <a:pPr marL="0" lvl="0" indent="0" algn="ctr" rtl="0">
              <a:lnSpc>
                <a:spcPct val="90000"/>
              </a:lnSpc>
              <a:spcBef>
                <a:spcPts val="0"/>
              </a:spcBef>
              <a:spcAft>
                <a:spcPts val="0"/>
              </a:spcAft>
              <a:buClr>
                <a:schemeClr val="lt1"/>
              </a:buClr>
              <a:buSzPts val="3200"/>
              <a:buNone/>
            </a:pPr>
            <a:endParaRPr lang="en-US" sz="3200" dirty="0"/>
          </a:p>
          <a:p>
            <a:pPr marL="0" lvl="0" indent="0" algn="ctr" rtl="0">
              <a:lnSpc>
                <a:spcPct val="90000"/>
              </a:lnSpc>
              <a:spcBef>
                <a:spcPts val="0"/>
              </a:spcBef>
              <a:spcAft>
                <a:spcPts val="0"/>
              </a:spcAft>
              <a:buClr>
                <a:schemeClr val="lt1"/>
              </a:buClr>
              <a:buSzPts val="3200"/>
              <a:buNone/>
            </a:pPr>
            <a:endParaRPr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BC1091A-F87B-0B0A-6636-BE8CB9D595E5}"/>
            </a:ext>
          </a:extLst>
        </p:cNvPr>
        <p:cNvGrpSpPr/>
        <p:nvPr/>
      </p:nvGrpSpPr>
      <p:grpSpPr>
        <a:xfrm>
          <a:off x="0" y="0"/>
          <a:ext cx="0" cy="0"/>
          <a:chOff x="0" y="0"/>
          <a:chExt cx="0" cy="0"/>
        </a:xfrm>
      </p:grpSpPr>
      <p:sp>
        <p:nvSpPr>
          <p:cNvPr id="104" name="Google Shape;104;p2">
            <a:extLst>
              <a:ext uri="{FF2B5EF4-FFF2-40B4-BE49-F238E27FC236}">
                <a16:creationId xmlns:a16="http://schemas.microsoft.com/office/drawing/2014/main" id="{9066FBDF-7752-1988-BB69-D2B3496BE74D}"/>
              </a:ext>
            </a:extLst>
          </p:cNvPr>
          <p:cNvSpPr txBox="1">
            <a:spLocks noGrp="1"/>
          </p:cNvSpPr>
          <p:nvPr>
            <p:ph type="title"/>
          </p:nvPr>
        </p:nvSpPr>
        <p:spPr>
          <a:xfrm>
            <a:off x="456000" y="1160463"/>
            <a:ext cx="11736000" cy="1188000"/>
          </a:xfrm>
          <a:prstGeom prst="rect">
            <a:avLst/>
          </a:prstGeom>
          <a:noFill/>
          <a:ln>
            <a:noFill/>
          </a:ln>
        </p:spPr>
        <p:txBody>
          <a:bodyPr spcFirstLastPara="1" wrap="square" lIns="91425" tIns="45700" rIns="91425" bIns="45700" anchor="ctr" anchorCtr="0">
            <a:normAutofit/>
          </a:bodyPr>
          <a:lstStyle/>
          <a:p>
            <a:pPr lvl="0"/>
            <a:r>
              <a:rPr lang="en-US" dirty="0">
                <a:latin typeface="Times New Roman" panose="02020603050405020304" pitchFamily="18" charset="0"/>
                <a:cs typeface="Times New Roman" panose="02020603050405020304" pitchFamily="18" charset="0"/>
              </a:rPr>
              <a:t>The Stroop Task</a:t>
            </a:r>
            <a:endParaRPr dirty="0">
              <a:latin typeface="Times New Roman" panose="02020603050405020304" pitchFamily="18" charset="0"/>
              <a:cs typeface="Times New Roman" panose="02020603050405020304" pitchFamily="18" charset="0"/>
            </a:endParaRPr>
          </a:p>
        </p:txBody>
      </p:sp>
      <p:sp>
        <p:nvSpPr>
          <p:cNvPr id="105" name="Google Shape;105;p2">
            <a:extLst>
              <a:ext uri="{FF2B5EF4-FFF2-40B4-BE49-F238E27FC236}">
                <a16:creationId xmlns:a16="http://schemas.microsoft.com/office/drawing/2014/main" id="{163E949B-B975-5FC9-BE26-08111BC587F9}"/>
              </a:ext>
            </a:extLst>
          </p:cNvPr>
          <p:cNvSpPr txBox="1">
            <a:spLocks noGrp="1"/>
          </p:cNvSpPr>
          <p:nvPr>
            <p:ph type="body" idx="4294967295"/>
          </p:nvPr>
        </p:nvSpPr>
        <p:spPr>
          <a:xfrm>
            <a:off x="503842" y="2676709"/>
            <a:ext cx="7091578" cy="4181291"/>
          </a:xfrm>
          <a:prstGeom prst="rect">
            <a:avLst/>
          </a:prstGeom>
          <a:noFill/>
          <a:ln>
            <a:noFill/>
          </a:ln>
        </p:spPr>
        <p:txBody>
          <a:bodyPr spcFirstLastPara="1" wrap="square" lIns="91425" tIns="45700" rIns="91425" bIns="45700" anchor="t" anchorCtr="0">
            <a:normAutofit/>
          </a:bodyPr>
          <a:lstStyle/>
          <a:p>
            <a:pPr marL="0" lvl="0" indent="0">
              <a:spcBef>
                <a:spcPts val="0"/>
              </a:spcBef>
              <a:buSzPts val="3200"/>
              <a:buNone/>
            </a:pPr>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Stroop task</a:t>
            </a:r>
            <a:r>
              <a:rPr lang="en-US" sz="1800" dirty="0">
                <a:latin typeface="Times New Roman" panose="02020603050405020304" pitchFamily="18" charset="0"/>
                <a:cs typeface="Times New Roman" panose="02020603050405020304" pitchFamily="18" charset="0"/>
              </a:rPr>
              <a:t> is a </a:t>
            </a:r>
            <a:r>
              <a:rPr lang="en-US" sz="1800" b="1" dirty="0">
                <a:latin typeface="Times New Roman" panose="02020603050405020304" pitchFamily="18" charset="0"/>
                <a:cs typeface="Times New Roman" panose="02020603050405020304" pitchFamily="18" charset="0"/>
              </a:rPr>
              <a:t>psychological task</a:t>
            </a:r>
            <a:r>
              <a:rPr lang="en-US" sz="1800" dirty="0">
                <a:latin typeface="Times New Roman" panose="02020603050405020304" pitchFamily="18" charset="0"/>
                <a:cs typeface="Times New Roman" panose="02020603050405020304" pitchFamily="18" charset="0"/>
              </a:rPr>
              <a:t> used to study </a:t>
            </a:r>
            <a:r>
              <a:rPr lang="en-US" sz="1800" b="1" dirty="0">
                <a:latin typeface="Times New Roman" panose="02020603050405020304" pitchFamily="18" charset="0"/>
                <a:cs typeface="Times New Roman" panose="02020603050405020304" pitchFamily="18" charset="0"/>
              </a:rPr>
              <a:t>attention, cognitive control, and interference</a:t>
            </a:r>
            <a:r>
              <a:rPr lang="en-US" sz="1800" dirty="0">
                <a:latin typeface="Times New Roman" panose="02020603050405020304" pitchFamily="18" charset="0"/>
                <a:cs typeface="Times New Roman" panose="02020603050405020304" pitchFamily="18" charset="0"/>
              </a:rPr>
              <a:t>.</a:t>
            </a:r>
            <a:endParaRPr lang="it-IT" sz="1800" dirty="0">
              <a:latin typeface="Times New Roman" panose="02020603050405020304" pitchFamily="18" charset="0"/>
              <a:cs typeface="Times New Roman" panose="02020603050405020304" pitchFamily="18" charset="0"/>
            </a:endParaRPr>
          </a:p>
          <a:p>
            <a:pPr marL="285750" indent="-285750">
              <a:spcBef>
                <a:spcPts val="0"/>
              </a:spcBef>
              <a:buSzPts val="3200"/>
              <a:buFont typeface="Wingdings" panose="05000000000000000000" pitchFamily="2" charset="2"/>
              <a:buChar char="§"/>
            </a:pPr>
            <a:endParaRPr lang="it-IT" sz="1800" dirty="0">
              <a:latin typeface="Times New Roman" panose="02020603050405020304" pitchFamily="18" charset="0"/>
              <a:cs typeface="Times New Roman" panose="02020603050405020304" pitchFamily="18" charset="0"/>
            </a:endParaRPr>
          </a:p>
          <a:p>
            <a:pPr marL="285750" indent="-285750">
              <a:spcBef>
                <a:spcPts val="0"/>
              </a:spcBef>
              <a:buSzPts val="3200"/>
              <a:buFont typeface="Wingdings" panose="05000000000000000000" pitchFamily="2" charset="2"/>
              <a:buChar char="§"/>
            </a:pPr>
            <a:r>
              <a:rPr lang="it-IT" sz="1800" dirty="0">
                <a:latin typeface="Times New Roman" panose="02020603050405020304" pitchFamily="18" charset="0"/>
                <a:cs typeface="Times New Roman" panose="02020603050405020304" pitchFamily="18" charset="0"/>
              </a:rPr>
              <a:t>To collect data I used a Numerical Stroop Task which we build using Opensesame in class.</a:t>
            </a:r>
          </a:p>
          <a:p>
            <a:pPr marL="0" indent="0">
              <a:spcBef>
                <a:spcPts val="0"/>
              </a:spcBef>
              <a:buSzPts val="3200"/>
              <a:buNone/>
            </a:pPr>
            <a:endParaRPr lang="it-IT" sz="1800" dirty="0">
              <a:latin typeface="Times New Roman" panose="02020603050405020304" pitchFamily="18" charset="0"/>
              <a:cs typeface="Times New Roman" panose="02020603050405020304" pitchFamily="18" charset="0"/>
            </a:endParaRPr>
          </a:p>
          <a:p>
            <a:pPr marL="285750" indent="-285750">
              <a:spcBef>
                <a:spcPts val="0"/>
              </a:spcBef>
              <a:buSzPts val="32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independent variable in the task was the stimulus condition, which had three levels: neutral, congruent, and incongruent</a:t>
            </a:r>
          </a:p>
          <a:p>
            <a:pPr marL="0" indent="0">
              <a:spcBef>
                <a:spcPts val="0"/>
              </a:spcBef>
              <a:buSzPts val="3200"/>
              <a:buNone/>
            </a:pPr>
            <a:r>
              <a:rPr lang="en-US" sz="1800" dirty="0">
                <a:latin typeface="Times New Roman" panose="02020603050405020304" pitchFamily="18" charset="0"/>
                <a:cs typeface="Times New Roman" panose="02020603050405020304" pitchFamily="18" charset="0"/>
              </a:rPr>
              <a:t>.</a:t>
            </a:r>
          </a:p>
          <a:p>
            <a:pPr marL="285750" indent="-285750">
              <a:spcBef>
                <a:spcPts val="0"/>
              </a:spcBef>
              <a:buSzPts val="320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dependent variable is Reaction time.</a:t>
            </a:r>
          </a:p>
          <a:p>
            <a:pPr marL="285750" indent="-285750">
              <a:spcBef>
                <a:spcPts val="0"/>
              </a:spcBef>
              <a:buSzPts val="3200"/>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indent="-285750">
              <a:spcBef>
                <a:spcPts val="0"/>
              </a:spcBef>
              <a:buSzPts val="3200"/>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0" indent="0" algn="ctr">
              <a:spcBef>
                <a:spcPts val="0"/>
              </a:spcBef>
              <a:buSzPts val="3200"/>
              <a:buNone/>
            </a:pPr>
            <a:r>
              <a:rPr lang="en-US" sz="1800" b="1" dirty="0">
                <a:solidFill>
                  <a:srgbClr val="FF0000"/>
                </a:solidFill>
                <a:latin typeface="Times New Roman" panose="02020603050405020304" pitchFamily="18" charset="0"/>
                <a:cs typeface="Times New Roman" panose="02020603050405020304" pitchFamily="18" charset="0"/>
              </a:rPr>
              <a:t>Goal: </a:t>
            </a:r>
            <a:r>
              <a:rPr lang="en-US" sz="2000" b="1" dirty="0">
                <a:latin typeface="Times New Roman" panose="02020603050405020304" pitchFamily="18" charset="0"/>
                <a:cs typeface="Times New Roman" panose="02020603050405020304" pitchFamily="18" charset="0"/>
              </a:rPr>
              <a:t>To assess differences in reaction time across neutral, congruent, and incongruent conditions.</a:t>
            </a:r>
            <a:endParaRPr lang="it-IT" sz="2000" b="1" dirty="0">
              <a:latin typeface="Times New Roman" panose="02020603050405020304" pitchFamily="18" charset="0"/>
              <a:cs typeface="Times New Roman" panose="02020603050405020304" pitchFamily="18" charset="0"/>
            </a:endParaRPr>
          </a:p>
          <a:p>
            <a:pPr marL="285750" indent="-285750">
              <a:spcBef>
                <a:spcPts val="0"/>
              </a:spcBef>
              <a:buSzPts val="3200"/>
            </a:pPr>
            <a:endParaRPr lang="it-IT" sz="1800" dirty="0">
              <a:latin typeface="Times New Roman" panose="02020603050405020304" pitchFamily="18" charset="0"/>
              <a:cs typeface="Times New Roman" panose="02020603050405020304" pitchFamily="18" charset="0"/>
            </a:endParaRPr>
          </a:p>
          <a:p>
            <a:pPr marL="0" lvl="0" indent="0" algn="l" rtl="0">
              <a:lnSpc>
                <a:spcPct val="90000"/>
              </a:lnSpc>
              <a:spcBef>
                <a:spcPts val="0"/>
              </a:spcBef>
              <a:spcAft>
                <a:spcPts val="0"/>
              </a:spcAft>
              <a:buClr>
                <a:schemeClr val="dk1"/>
              </a:buClr>
              <a:buSzPts val="3200"/>
              <a:buNone/>
            </a:pPr>
            <a:endParaRPr lang="it-IT" sz="1800" dirty="0">
              <a:latin typeface="Times New Roman" panose="02020603050405020304" pitchFamily="18" charset="0"/>
              <a:cs typeface="Times New Roman" panose="02020603050405020304" pitchFamily="18" charset="0"/>
            </a:endParaRPr>
          </a:p>
          <a:p>
            <a:pPr marL="0" lvl="0" indent="0" algn="l" rtl="0">
              <a:lnSpc>
                <a:spcPct val="90000"/>
              </a:lnSpc>
              <a:spcBef>
                <a:spcPts val="0"/>
              </a:spcBef>
              <a:spcAft>
                <a:spcPts val="0"/>
              </a:spcAft>
              <a:buClr>
                <a:schemeClr val="dk1"/>
              </a:buClr>
              <a:buSzPts val="3200"/>
              <a:buNone/>
            </a:pPr>
            <a:endParaRPr lang="it-IT" sz="1800" dirty="0">
              <a:latin typeface="Times New Roman" panose="02020603050405020304" pitchFamily="18" charset="0"/>
              <a:cs typeface="Times New Roman" panose="02020603050405020304" pitchFamily="18" charset="0"/>
            </a:endParaRPr>
          </a:p>
          <a:p>
            <a:pPr marL="0" lvl="0" indent="0" algn="l" rtl="0">
              <a:lnSpc>
                <a:spcPct val="90000"/>
              </a:lnSpc>
              <a:spcBef>
                <a:spcPts val="0"/>
              </a:spcBef>
              <a:spcAft>
                <a:spcPts val="0"/>
              </a:spcAft>
              <a:buClr>
                <a:schemeClr val="dk1"/>
              </a:buClr>
              <a:buSzPts val="3200"/>
              <a:buNone/>
            </a:pPr>
            <a:endParaRPr lang="it-IT" sz="1800" dirty="0">
              <a:latin typeface="Times New Roman" panose="02020603050405020304" pitchFamily="18" charset="0"/>
              <a:cs typeface="Times New Roman" panose="02020603050405020304" pitchFamily="18" charset="0"/>
            </a:endParaRPr>
          </a:p>
        </p:txBody>
      </p:sp>
      <p:pic>
        <p:nvPicPr>
          <p:cNvPr id="8" name="Picture 7" descr="A screenshot of a computer&#10;&#10;AI-generated content may be incorrect.">
            <a:extLst>
              <a:ext uri="{FF2B5EF4-FFF2-40B4-BE49-F238E27FC236}">
                <a16:creationId xmlns:a16="http://schemas.microsoft.com/office/drawing/2014/main" id="{7250A5ED-23C7-B704-83F1-83086A7F1A2D}"/>
              </a:ext>
            </a:extLst>
          </p:cNvPr>
          <p:cNvPicPr>
            <a:picLocks noChangeAspect="1"/>
          </p:cNvPicPr>
          <p:nvPr/>
        </p:nvPicPr>
        <p:blipFill>
          <a:blip r:embed="rId3"/>
          <a:stretch>
            <a:fillRect/>
          </a:stretch>
        </p:blipFill>
        <p:spPr>
          <a:xfrm>
            <a:off x="7595420" y="3018447"/>
            <a:ext cx="4412826" cy="2481003"/>
          </a:xfrm>
          <a:prstGeom prst="rect">
            <a:avLst/>
          </a:prstGeom>
        </p:spPr>
      </p:pic>
    </p:spTree>
    <p:extLst>
      <p:ext uri="{BB962C8B-B14F-4D97-AF65-F5344CB8AC3E}">
        <p14:creationId xmlns:p14="http://schemas.microsoft.com/office/powerpoint/2010/main" val="3105582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p:cNvGrpSpPr/>
        <p:nvPr/>
      </p:nvGrpSpPr>
      <p:grpSpPr>
        <a:xfrm>
          <a:off x="0" y="0"/>
          <a:ext cx="0" cy="0"/>
          <a:chOff x="0" y="0"/>
          <a:chExt cx="0" cy="0"/>
        </a:xfrm>
      </p:grpSpPr>
      <p:sp useBgFill="1">
        <p:nvSpPr>
          <p:cNvPr id="132" name="Rectangle 131">
            <a:extLst>
              <a:ext uri="{FF2B5EF4-FFF2-40B4-BE49-F238E27FC236}">
                <a16:creationId xmlns:a16="http://schemas.microsoft.com/office/drawing/2014/main" id="{0A597D97-203B-498B-95D3-E90DC961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70088F93-D00B-8EA6-4BE1-E876CD2DCD87}"/>
              </a:ext>
            </a:extLst>
          </p:cNvPr>
          <p:cNvPicPr>
            <a:picLocks noChangeAspect="1"/>
          </p:cNvPicPr>
          <p:nvPr/>
        </p:nvPicPr>
        <p:blipFill>
          <a:blip r:embed="rId3"/>
          <a:srcRect t="12050" b="12052"/>
          <a:stretch>
            <a:fillRect/>
          </a:stretch>
        </p:blipFill>
        <p:spPr>
          <a:xfrm>
            <a:off x="4267201" y="10"/>
            <a:ext cx="7924800" cy="3383270"/>
          </a:xfrm>
          <a:prstGeom prst="rect">
            <a:avLst/>
          </a:prstGeom>
          <a:noFill/>
        </p:spPr>
      </p:pic>
      <p:pic>
        <p:nvPicPr>
          <p:cNvPr id="5" name="Picture 4" descr="A screenshot of a computer&#10;&#10;AI-generated content may be incorrect.">
            <a:extLst>
              <a:ext uri="{FF2B5EF4-FFF2-40B4-BE49-F238E27FC236}">
                <a16:creationId xmlns:a16="http://schemas.microsoft.com/office/drawing/2014/main" id="{19AAEDCA-8CB9-A5B4-69A1-AFC590AAB86E}"/>
              </a:ext>
            </a:extLst>
          </p:cNvPr>
          <p:cNvPicPr>
            <a:picLocks noChangeAspect="1"/>
          </p:cNvPicPr>
          <p:nvPr/>
        </p:nvPicPr>
        <p:blipFill>
          <a:blip r:embed="rId4"/>
          <a:srcRect t="6517" r="2" b="13881"/>
          <a:stretch>
            <a:fillRect/>
          </a:stretch>
        </p:blipFill>
        <p:spPr>
          <a:xfrm>
            <a:off x="4650916" y="3474720"/>
            <a:ext cx="7555832" cy="3383280"/>
          </a:xfrm>
          <a:prstGeom prst="rect">
            <a:avLst/>
          </a:prstGeom>
          <a:noFill/>
        </p:spPr>
      </p:pic>
      <p:sp useBgFill="1">
        <p:nvSpPr>
          <p:cNvPr id="134" name="Freeform: Shape 133">
            <a:extLst>
              <a:ext uri="{FF2B5EF4-FFF2-40B4-BE49-F238E27FC236}">
                <a16:creationId xmlns:a16="http://schemas.microsoft.com/office/drawing/2014/main" id="{6A6EF10E-DF41-4BD3-8EB4-6F646531D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44272" cy="6858000"/>
          </a:xfrm>
          <a:custGeom>
            <a:avLst/>
            <a:gdLst>
              <a:gd name="connsiteX0" fmla="*/ 0 w 6244272"/>
              <a:gd name="connsiteY0" fmla="*/ 0 h 6858000"/>
              <a:gd name="connsiteX1" fmla="*/ 732568 w 6244272"/>
              <a:gd name="connsiteY1" fmla="*/ 0 h 6858000"/>
              <a:gd name="connsiteX2" fmla="*/ 947849 w 6244272"/>
              <a:gd name="connsiteY2" fmla="*/ 0 h 6858000"/>
              <a:gd name="connsiteX3" fmla="*/ 1823619 w 6244272"/>
              <a:gd name="connsiteY3" fmla="*/ 0 h 6858000"/>
              <a:gd name="connsiteX4" fmla="*/ 5235673 w 6244272"/>
              <a:gd name="connsiteY4" fmla="*/ 0 h 6858000"/>
              <a:gd name="connsiteX5" fmla="*/ 4933297 w 6244272"/>
              <a:gd name="connsiteY5" fmla="*/ 110269 h 6858000"/>
              <a:gd name="connsiteX6" fmla="*/ 4976910 w 6244272"/>
              <a:gd name="connsiteY6" fmla="*/ 135168 h 6858000"/>
              <a:gd name="connsiteX7" fmla="*/ 5238580 w 6244272"/>
              <a:gd name="connsiteY7" fmla="*/ 71141 h 6858000"/>
              <a:gd name="connsiteX8" fmla="*/ 5290914 w 6244272"/>
              <a:gd name="connsiteY8" fmla="*/ 88927 h 6858000"/>
              <a:gd name="connsiteX9" fmla="*/ 5264747 w 6244272"/>
              <a:gd name="connsiteY9" fmla="*/ 163625 h 6858000"/>
              <a:gd name="connsiteX10" fmla="*/ 5151357 w 6244272"/>
              <a:gd name="connsiteY10" fmla="*/ 192082 h 6858000"/>
              <a:gd name="connsiteX11" fmla="*/ 4974002 w 6244272"/>
              <a:gd name="connsiteY11" fmla="*/ 373491 h 6858000"/>
              <a:gd name="connsiteX12" fmla="*/ 5241488 w 6244272"/>
              <a:gd name="connsiteY12" fmla="*/ 352148 h 6858000"/>
              <a:gd name="connsiteX13" fmla="*/ 5288007 w 6244272"/>
              <a:gd name="connsiteY13" fmla="*/ 394834 h 6858000"/>
              <a:gd name="connsiteX14" fmla="*/ 5305452 w 6244272"/>
              <a:gd name="connsiteY14" fmla="*/ 451747 h 6858000"/>
              <a:gd name="connsiteX15" fmla="*/ 5383953 w 6244272"/>
              <a:gd name="connsiteY15" fmla="*/ 359262 h 6858000"/>
              <a:gd name="connsiteX16" fmla="*/ 5450825 w 6244272"/>
              <a:gd name="connsiteY16" fmla="*/ 334364 h 6858000"/>
              <a:gd name="connsiteX17" fmla="*/ 5471177 w 6244272"/>
              <a:gd name="connsiteY17" fmla="*/ 416176 h 6858000"/>
              <a:gd name="connsiteX18" fmla="*/ 5410121 w 6244272"/>
              <a:gd name="connsiteY18" fmla="*/ 505101 h 6858000"/>
              <a:gd name="connsiteX19" fmla="*/ 5247303 w 6244272"/>
              <a:gd name="connsiteY19" fmla="*/ 558458 h 6858000"/>
              <a:gd name="connsiteX20" fmla="*/ 5421750 w 6244272"/>
              <a:gd name="connsiteY20" fmla="*/ 558458 h 6858000"/>
              <a:gd name="connsiteX21" fmla="*/ 5622364 w 6244272"/>
              <a:gd name="connsiteY21" fmla="*/ 522887 h 6858000"/>
              <a:gd name="connsiteX22" fmla="*/ 5834608 w 6244272"/>
              <a:gd name="connsiteY22" fmla="*/ 533558 h 6858000"/>
              <a:gd name="connsiteX23" fmla="*/ 6035223 w 6244272"/>
              <a:gd name="connsiteY23" fmla="*/ 462417 h 6858000"/>
              <a:gd name="connsiteX24" fmla="*/ 6238745 w 6244272"/>
              <a:gd name="connsiteY24" fmla="*/ 465975 h 6858000"/>
              <a:gd name="connsiteX25" fmla="*/ 5337434 w 6244272"/>
              <a:gd name="connsiteY25" fmla="*/ 910606 h 6858000"/>
              <a:gd name="connsiteX26" fmla="*/ 5381046 w 6244272"/>
              <a:gd name="connsiteY26" fmla="*/ 921277 h 6858000"/>
              <a:gd name="connsiteX27" fmla="*/ 5439195 w 6244272"/>
              <a:gd name="connsiteY27" fmla="*/ 949734 h 6858000"/>
              <a:gd name="connsiteX28" fmla="*/ 5395583 w 6244272"/>
              <a:gd name="connsiteY28" fmla="*/ 1006647 h 6858000"/>
              <a:gd name="connsiteX29" fmla="*/ 5160079 w 6244272"/>
              <a:gd name="connsiteY29" fmla="*/ 1113358 h 6858000"/>
              <a:gd name="connsiteX30" fmla="*/ 5101930 w 6244272"/>
              <a:gd name="connsiteY30" fmla="*/ 1220069 h 6858000"/>
              <a:gd name="connsiteX31" fmla="*/ 5174617 w 6244272"/>
              <a:gd name="connsiteY31" fmla="*/ 1209399 h 6858000"/>
              <a:gd name="connsiteX32" fmla="*/ 5238580 w 6244272"/>
              <a:gd name="connsiteY32" fmla="*/ 1230741 h 6858000"/>
              <a:gd name="connsiteX33" fmla="*/ 5212414 w 6244272"/>
              <a:gd name="connsiteY33" fmla="*/ 1365909 h 6858000"/>
              <a:gd name="connsiteX34" fmla="*/ 4878056 w 6244272"/>
              <a:gd name="connsiteY34" fmla="*/ 1540204 h 6858000"/>
              <a:gd name="connsiteX35" fmla="*/ 4848982 w 6244272"/>
              <a:gd name="connsiteY35" fmla="*/ 1597117 h 6858000"/>
              <a:gd name="connsiteX36" fmla="*/ 4889686 w 6244272"/>
              <a:gd name="connsiteY36" fmla="*/ 1636245 h 6858000"/>
              <a:gd name="connsiteX37" fmla="*/ 4997261 w 6244272"/>
              <a:gd name="connsiteY37" fmla="*/ 1657587 h 6858000"/>
              <a:gd name="connsiteX38" fmla="*/ 4846074 w 6244272"/>
              <a:gd name="connsiteY38" fmla="*/ 1849668 h 6858000"/>
              <a:gd name="connsiteX39" fmla="*/ 4790832 w 6244272"/>
              <a:gd name="connsiteY39" fmla="*/ 1903025 h 6858000"/>
              <a:gd name="connsiteX40" fmla="*/ 4694886 w 6244272"/>
              <a:gd name="connsiteY40" fmla="*/ 1984836 h 6858000"/>
              <a:gd name="connsiteX41" fmla="*/ 4694886 w 6244272"/>
              <a:gd name="connsiteY41" fmla="*/ 2013292 h 6858000"/>
              <a:gd name="connsiteX42" fmla="*/ 4822814 w 6244272"/>
              <a:gd name="connsiteY42" fmla="*/ 2102219 h 6858000"/>
              <a:gd name="connsiteX43" fmla="*/ 5055411 w 6244272"/>
              <a:gd name="connsiteY43" fmla="*/ 2077320 h 6858000"/>
              <a:gd name="connsiteX44" fmla="*/ 4712331 w 6244272"/>
              <a:gd name="connsiteY44" fmla="*/ 2208931 h 6858000"/>
              <a:gd name="connsiteX45" fmla="*/ 5822979 w 6244272"/>
              <a:gd name="connsiteY45" fmla="*/ 1892353 h 6858000"/>
              <a:gd name="connsiteX46" fmla="*/ 5753200 w 6244272"/>
              <a:gd name="connsiteY46" fmla="*/ 1974165 h 6858000"/>
              <a:gd name="connsiteX47" fmla="*/ 5363601 w 6244272"/>
              <a:gd name="connsiteY47" fmla="*/ 2191146 h 6858000"/>
              <a:gd name="connsiteX48" fmla="*/ 5253118 w 6244272"/>
              <a:gd name="connsiteY48" fmla="*/ 2326314 h 6858000"/>
              <a:gd name="connsiteX49" fmla="*/ 5136819 w 6244272"/>
              <a:gd name="connsiteY49" fmla="*/ 2401012 h 6858000"/>
              <a:gd name="connsiteX50" fmla="*/ 4974002 w 6244272"/>
              <a:gd name="connsiteY50" fmla="*/ 2401012 h 6858000"/>
              <a:gd name="connsiteX51" fmla="*/ 4857704 w 6244272"/>
              <a:gd name="connsiteY51" fmla="*/ 2518395 h 6858000"/>
              <a:gd name="connsiteX52" fmla="*/ 4976910 w 6244272"/>
              <a:gd name="connsiteY52" fmla="*/ 2543294 h 6858000"/>
              <a:gd name="connsiteX53" fmla="*/ 5116467 w 6244272"/>
              <a:gd name="connsiteY53" fmla="*/ 2525509 h 6858000"/>
              <a:gd name="connsiteX54" fmla="*/ 5273470 w 6244272"/>
              <a:gd name="connsiteY54" fmla="*/ 2564636 h 6858000"/>
              <a:gd name="connsiteX55" fmla="*/ 5418843 w 6244272"/>
              <a:gd name="connsiteY55" fmla="*/ 2532623 h 6858000"/>
              <a:gd name="connsiteX56" fmla="*/ 5593290 w 6244272"/>
              <a:gd name="connsiteY56" fmla="*/ 2553965 h 6858000"/>
              <a:gd name="connsiteX57" fmla="*/ 5648532 w 6244272"/>
              <a:gd name="connsiteY57" fmla="*/ 2692689 h 6858000"/>
              <a:gd name="connsiteX58" fmla="*/ 5665976 w 6244272"/>
              <a:gd name="connsiteY58" fmla="*/ 2703362 h 6858000"/>
              <a:gd name="connsiteX59" fmla="*/ 5988704 w 6244272"/>
              <a:gd name="connsiteY59" fmla="*/ 2923898 h 6858000"/>
              <a:gd name="connsiteX60" fmla="*/ 6078835 w 6244272"/>
              <a:gd name="connsiteY60" fmla="*/ 2941684 h 6858000"/>
              <a:gd name="connsiteX61" fmla="*/ 5546771 w 6244272"/>
              <a:gd name="connsiteY61" fmla="*/ 3329402 h 6858000"/>
              <a:gd name="connsiteX62" fmla="*/ 5904388 w 6244272"/>
              <a:gd name="connsiteY62" fmla="*/ 3229805 h 6858000"/>
              <a:gd name="connsiteX63" fmla="*/ 5953814 w 6244272"/>
              <a:gd name="connsiteY63" fmla="*/ 3393429 h 6858000"/>
              <a:gd name="connsiteX64" fmla="*/ 5785182 w 6244272"/>
              <a:gd name="connsiteY64" fmla="*/ 3539269 h 6858000"/>
              <a:gd name="connsiteX65" fmla="*/ 5724125 w 6244272"/>
              <a:gd name="connsiteY65" fmla="*/ 3827390 h 6858000"/>
              <a:gd name="connsiteX66" fmla="*/ 5753200 w 6244272"/>
              <a:gd name="connsiteY66" fmla="*/ 4090612 h 6858000"/>
              <a:gd name="connsiteX67" fmla="*/ 5825886 w 6244272"/>
              <a:gd name="connsiteY67" fmla="*/ 4172424 h 6858000"/>
              <a:gd name="connsiteX68" fmla="*/ 5930554 w 6244272"/>
              <a:gd name="connsiteY68" fmla="*/ 4321821 h 6858000"/>
              <a:gd name="connsiteX69" fmla="*/ 5994519 w 6244272"/>
              <a:gd name="connsiteY69" fmla="*/ 4414305 h 6858000"/>
              <a:gd name="connsiteX70" fmla="*/ 6218393 w 6244272"/>
              <a:gd name="connsiteY70" fmla="*/ 4378734 h 6858000"/>
              <a:gd name="connsiteX71" fmla="*/ 5918925 w 6244272"/>
              <a:gd name="connsiteY71" fmla="*/ 4613499 h 6858000"/>
              <a:gd name="connsiteX72" fmla="*/ 6160243 w 6244272"/>
              <a:gd name="connsiteY72" fmla="*/ 4585042 h 6858000"/>
              <a:gd name="connsiteX73" fmla="*/ 6238745 w 6244272"/>
              <a:gd name="connsiteY73" fmla="*/ 4602828 h 6858000"/>
              <a:gd name="connsiteX74" fmla="*/ 6195133 w 6244272"/>
              <a:gd name="connsiteY74" fmla="*/ 4677526 h 6858000"/>
              <a:gd name="connsiteX75" fmla="*/ 6017778 w 6244272"/>
              <a:gd name="connsiteY75" fmla="*/ 4805580 h 6858000"/>
              <a:gd name="connsiteX76" fmla="*/ 5651439 w 6244272"/>
              <a:gd name="connsiteY76" fmla="*/ 5154171 h 6858000"/>
              <a:gd name="connsiteX77" fmla="*/ 6006149 w 6244272"/>
              <a:gd name="connsiteY77" fmla="*/ 4994104 h 6858000"/>
              <a:gd name="connsiteX78" fmla="*/ 5633994 w 6244272"/>
              <a:gd name="connsiteY78" fmla="*/ 5353367 h 6858000"/>
              <a:gd name="connsiteX79" fmla="*/ 5552586 w 6244272"/>
              <a:gd name="connsiteY79" fmla="*/ 5474306 h 6858000"/>
              <a:gd name="connsiteX80" fmla="*/ 5383953 w 6244272"/>
              <a:gd name="connsiteY80" fmla="*/ 5769542 h 6858000"/>
              <a:gd name="connsiteX81" fmla="*/ 5392675 w 6244272"/>
              <a:gd name="connsiteY81" fmla="*/ 5801555 h 6858000"/>
              <a:gd name="connsiteX82" fmla="*/ 5584568 w 6244272"/>
              <a:gd name="connsiteY82" fmla="*/ 5755314 h 6858000"/>
              <a:gd name="connsiteX83" fmla="*/ 5334526 w 6244272"/>
              <a:gd name="connsiteY83" fmla="*/ 6004307 h 6858000"/>
              <a:gd name="connsiteX84" fmla="*/ 5075763 w 6244272"/>
              <a:gd name="connsiteY84" fmla="*/ 6196388 h 6858000"/>
              <a:gd name="connsiteX85" fmla="*/ 5258933 w 6244272"/>
              <a:gd name="connsiteY85" fmla="*/ 6167932 h 6858000"/>
              <a:gd name="connsiteX86" fmla="*/ 5511881 w 6244272"/>
              <a:gd name="connsiteY86" fmla="*/ 6057663 h 6858000"/>
              <a:gd name="connsiteX87" fmla="*/ 5599105 w 6244272"/>
              <a:gd name="connsiteY87" fmla="*/ 6100347 h 6858000"/>
              <a:gd name="connsiteX88" fmla="*/ 5360693 w 6244272"/>
              <a:gd name="connsiteY88" fmla="*/ 6281757 h 6858000"/>
              <a:gd name="connsiteX89" fmla="*/ 5224043 w 6244272"/>
              <a:gd name="connsiteY89" fmla="*/ 6367127 h 6858000"/>
              <a:gd name="connsiteX90" fmla="*/ 5168801 w 6244272"/>
              <a:gd name="connsiteY90" fmla="*/ 6431153 h 6858000"/>
              <a:gd name="connsiteX91" fmla="*/ 5011799 w 6244272"/>
              <a:gd name="connsiteY91" fmla="*/ 6658805 h 6858000"/>
              <a:gd name="connsiteX92" fmla="*/ 4651275 w 6244272"/>
              <a:gd name="connsiteY92" fmla="*/ 6858000 h 6858000"/>
              <a:gd name="connsiteX93" fmla="*/ 1823619 w 6244272"/>
              <a:gd name="connsiteY93" fmla="*/ 6858000 h 6858000"/>
              <a:gd name="connsiteX94" fmla="*/ 947849 w 6244272"/>
              <a:gd name="connsiteY94" fmla="*/ 6858000 h 6858000"/>
              <a:gd name="connsiteX95" fmla="*/ 732568 w 6244272"/>
              <a:gd name="connsiteY95" fmla="*/ 6858000 h 6858000"/>
              <a:gd name="connsiteX96" fmla="*/ 0 w 6244272"/>
              <a:gd name="connsiteY9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6244272" h="6858000">
                <a:moveTo>
                  <a:pt x="0" y="0"/>
                </a:moveTo>
                <a:lnTo>
                  <a:pt x="732568" y="0"/>
                </a:lnTo>
                <a:lnTo>
                  <a:pt x="947849" y="0"/>
                </a:lnTo>
                <a:lnTo>
                  <a:pt x="1823619" y="0"/>
                </a:lnTo>
                <a:lnTo>
                  <a:pt x="5235673" y="0"/>
                </a:lnTo>
                <a:cubicBezTo>
                  <a:pt x="5133912" y="35571"/>
                  <a:pt x="5035058" y="78255"/>
                  <a:pt x="4933297" y="110269"/>
                </a:cubicBezTo>
                <a:cubicBezTo>
                  <a:pt x="4947835" y="145839"/>
                  <a:pt x="4962372" y="138725"/>
                  <a:pt x="4976910" y="135168"/>
                </a:cubicBezTo>
                <a:cubicBezTo>
                  <a:pt x="5064133" y="120941"/>
                  <a:pt x="5154264" y="110269"/>
                  <a:pt x="5238580" y="71141"/>
                </a:cubicBezTo>
                <a:cubicBezTo>
                  <a:pt x="5258933" y="64027"/>
                  <a:pt x="5282192" y="64027"/>
                  <a:pt x="5290914" y="88927"/>
                </a:cubicBezTo>
                <a:cubicBezTo>
                  <a:pt x="5305452" y="124497"/>
                  <a:pt x="5285100" y="145839"/>
                  <a:pt x="5264747" y="163625"/>
                </a:cubicBezTo>
                <a:cubicBezTo>
                  <a:pt x="5229858" y="195638"/>
                  <a:pt x="5189154" y="188525"/>
                  <a:pt x="5151357" y="192082"/>
                </a:cubicBezTo>
                <a:cubicBezTo>
                  <a:pt x="5046689" y="209867"/>
                  <a:pt x="4997261" y="259665"/>
                  <a:pt x="4974002" y="373491"/>
                </a:cubicBezTo>
                <a:cubicBezTo>
                  <a:pt x="5064133" y="327250"/>
                  <a:pt x="5154264" y="384162"/>
                  <a:pt x="5241488" y="352148"/>
                </a:cubicBezTo>
                <a:cubicBezTo>
                  <a:pt x="5264747" y="345034"/>
                  <a:pt x="5299637" y="355706"/>
                  <a:pt x="5288007" y="394834"/>
                </a:cubicBezTo>
                <a:cubicBezTo>
                  <a:pt x="5276378" y="430405"/>
                  <a:pt x="5238580" y="458860"/>
                  <a:pt x="5305452" y="451747"/>
                </a:cubicBezTo>
                <a:cubicBezTo>
                  <a:pt x="5354879" y="448189"/>
                  <a:pt x="5369416" y="405504"/>
                  <a:pt x="5383953" y="359262"/>
                </a:cubicBezTo>
                <a:cubicBezTo>
                  <a:pt x="5395583" y="334364"/>
                  <a:pt x="5427565" y="320135"/>
                  <a:pt x="5450825" y="334364"/>
                </a:cubicBezTo>
                <a:cubicBezTo>
                  <a:pt x="5479899" y="348592"/>
                  <a:pt x="5471177" y="387720"/>
                  <a:pt x="5471177" y="416176"/>
                </a:cubicBezTo>
                <a:cubicBezTo>
                  <a:pt x="5474085" y="469532"/>
                  <a:pt x="5450825" y="494431"/>
                  <a:pt x="5410121" y="505101"/>
                </a:cubicBezTo>
                <a:cubicBezTo>
                  <a:pt x="5360693" y="519330"/>
                  <a:pt x="5311267" y="537116"/>
                  <a:pt x="5247303" y="558458"/>
                </a:cubicBezTo>
                <a:cubicBezTo>
                  <a:pt x="5317082" y="594028"/>
                  <a:pt x="5369416" y="586915"/>
                  <a:pt x="5421750" y="558458"/>
                </a:cubicBezTo>
                <a:cubicBezTo>
                  <a:pt x="5485714" y="526444"/>
                  <a:pt x="5570030" y="483759"/>
                  <a:pt x="5622364" y="522887"/>
                </a:cubicBezTo>
                <a:cubicBezTo>
                  <a:pt x="5700865" y="579800"/>
                  <a:pt x="5764829" y="544229"/>
                  <a:pt x="5834608" y="533558"/>
                </a:cubicBezTo>
                <a:cubicBezTo>
                  <a:pt x="5979982" y="512216"/>
                  <a:pt x="5889850" y="480203"/>
                  <a:pt x="6035223" y="462417"/>
                </a:cubicBezTo>
                <a:cubicBezTo>
                  <a:pt x="6093372" y="455303"/>
                  <a:pt x="6154429" y="426847"/>
                  <a:pt x="6238745" y="465975"/>
                </a:cubicBezTo>
                <a:cubicBezTo>
                  <a:pt x="5857868" y="672284"/>
                  <a:pt x="5677606" y="658055"/>
                  <a:pt x="5337434" y="910606"/>
                </a:cubicBezTo>
                <a:cubicBezTo>
                  <a:pt x="5351971" y="935506"/>
                  <a:pt x="5366508" y="924835"/>
                  <a:pt x="5381046" y="921277"/>
                </a:cubicBezTo>
                <a:cubicBezTo>
                  <a:pt x="5404305" y="917720"/>
                  <a:pt x="5433380" y="903491"/>
                  <a:pt x="5439195" y="949734"/>
                </a:cubicBezTo>
                <a:cubicBezTo>
                  <a:pt x="5442103" y="985305"/>
                  <a:pt x="5424657" y="1003089"/>
                  <a:pt x="5395583" y="1006647"/>
                </a:cubicBezTo>
                <a:cubicBezTo>
                  <a:pt x="5311267" y="1020875"/>
                  <a:pt x="5235673" y="1070674"/>
                  <a:pt x="5160079" y="1113358"/>
                </a:cubicBezTo>
                <a:cubicBezTo>
                  <a:pt x="5125190" y="1131144"/>
                  <a:pt x="5087393" y="1156043"/>
                  <a:pt x="5101930" y="1220069"/>
                </a:cubicBezTo>
                <a:cubicBezTo>
                  <a:pt x="5131004" y="1237855"/>
                  <a:pt x="5151357" y="1212955"/>
                  <a:pt x="5174617" y="1209399"/>
                </a:cubicBezTo>
                <a:cubicBezTo>
                  <a:pt x="5197876" y="1205842"/>
                  <a:pt x="5253118" y="1220069"/>
                  <a:pt x="5238580" y="1230741"/>
                </a:cubicBezTo>
                <a:cubicBezTo>
                  <a:pt x="5171709" y="1269868"/>
                  <a:pt x="5293822" y="1365909"/>
                  <a:pt x="5212414" y="1365909"/>
                </a:cubicBezTo>
                <a:cubicBezTo>
                  <a:pt x="5078671" y="1365909"/>
                  <a:pt x="5005984" y="1536647"/>
                  <a:pt x="4878056" y="1540204"/>
                </a:cubicBezTo>
                <a:cubicBezTo>
                  <a:pt x="4857704" y="1540204"/>
                  <a:pt x="4848982" y="1572219"/>
                  <a:pt x="4848982" y="1597117"/>
                </a:cubicBezTo>
                <a:cubicBezTo>
                  <a:pt x="4848982" y="1629132"/>
                  <a:pt x="4869333" y="1632688"/>
                  <a:pt x="4889686" y="1636245"/>
                </a:cubicBezTo>
                <a:cubicBezTo>
                  <a:pt x="4921668" y="1639802"/>
                  <a:pt x="4956557" y="1597117"/>
                  <a:pt x="4997261" y="1657587"/>
                </a:cubicBezTo>
                <a:cubicBezTo>
                  <a:pt x="4921668" y="1693158"/>
                  <a:pt x="4843167" y="1728729"/>
                  <a:pt x="4846074" y="1849668"/>
                </a:cubicBezTo>
                <a:cubicBezTo>
                  <a:pt x="4846074" y="1881683"/>
                  <a:pt x="4814092" y="1895910"/>
                  <a:pt x="4790832" y="1903025"/>
                </a:cubicBezTo>
                <a:cubicBezTo>
                  <a:pt x="4750128" y="1917252"/>
                  <a:pt x="4718146" y="1938595"/>
                  <a:pt x="4694886" y="1984836"/>
                </a:cubicBezTo>
                <a:cubicBezTo>
                  <a:pt x="4694886" y="1995507"/>
                  <a:pt x="4694886" y="2002622"/>
                  <a:pt x="4694886" y="2013292"/>
                </a:cubicBezTo>
                <a:cubicBezTo>
                  <a:pt x="4700701" y="2123562"/>
                  <a:pt x="4758850" y="2120004"/>
                  <a:pt x="4822814" y="2102219"/>
                </a:cubicBezTo>
                <a:cubicBezTo>
                  <a:pt x="4898408" y="2080877"/>
                  <a:pt x="4974002" y="2038192"/>
                  <a:pt x="5055411" y="2077320"/>
                </a:cubicBezTo>
                <a:cubicBezTo>
                  <a:pt x="4942020" y="2130676"/>
                  <a:pt x="4817000" y="2134233"/>
                  <a:pt x="4712331" y="2208931"/>
                </a:cubicBezTo>
                <a:cubicBezTo>
                  <a:pt x="5101930" y="2223159"/>
                  <a:pt x="5445010" y="1984836"/>
                  <a:pt x="5822979" y="1892353"/>
                </a:cubicBezTo>
                <a:cubicBezTo>
                  <a:pt x="5811349" y="1952823"/>
                  <a:pt x="5779367" y="1967051"/>
                  <a:pt x="5753200" y="1974165"/>
                </a:cubicBezTo>
                <a:cubicBezTo>
                  <a:pt x="5613642" y="2020407"/>
                  <a:pt x="5491529" y="2112891"/>
                  <a:pt x="5363601" y="2191146"/>
                </a:cubicBezTo>
                <a:cubicBezTo>
                  <a:pt x="5311267" y="2223159"/>
                  <a:pt x="5273470" y="2258731"/>
                  <a:pt x="5253118" y="2326314"/>
                </a:cubicBezTo>
                <a:cubicBezTo>
                  <a:pt x="5235673" y="2390340"/>
                  <a:pt x="5200783" y="2418796"/>
                  <a:pt x="5136819" y="2401012"/>
                </a:cubicBezTo>
                <a:cubicBezTo>
                  <a:pt x="5084485" y="2386784"/>
                  <a:pt x="5029243" y="2393898"/>
                  <a:pt x="4974002" y="2401012"/>
                </a:cubicBezTo>
                <a:cubicBezTo>
                  <a:pt x="4912946" y="2408126"/>
                  <a:pt x="4843167" y="2479267"/>
                  <a:pt x="4857704" y="2518395"/>
                </a:cubicBezTo>
                <a:cubicBezTo>
                  <a:pt x="4886778" y="2582422"/>
                  <a:pt x="4936205" y="2550408"/>
                  <a:pt x="4976910" y="2543294"/>
                </a:cubicBezTo>
                <a:cubicBezTo>
                  <a:pt x="5026336" y="2536181"/>
                  <a:pt x="5116467" y="2518395"/>
                  <a:pt x="5116467" y="2525509"/>
                </a:cubicBezTo>
                <a:cubicBezTo>
                  <a:pt x="5148450" y="2685576"/>
                  <a:pt x="5221136" y="2564636"/>
                  <a:pt x="5273470" y="2564636"/>
                </a:cubicBezTo>
                <a:cubicBezTo>
                  <a:pt x="5322897" y="2564636"/>
                  <a:pt x="5372323" y="2546851"/>
                  <a:pt x="5418843" y="2532623"/>
                </a:cubicBezTo>
                <a:cubicBezTo>
                  <a:pt x="5479899" y="2514837"/>
                  <a:pt x="5535140" y="2546851"/>
                  <a:pt x="5593290" y="2553965"/>
                </a:cubicBezTo>
                <a:cubicBezTo>
                  <a:pt x="5645624" y="2561080"/>
                  <a:pt x="5616550" y="2653563"/>
                  <a:pt x="5648532" y="2692689"/>
                </a:cubicBezTo>
                <a:cubicBezTo>
                  <a:pt x="5654346" y="2703362"/>
                  <a:pt x="5660161" y="2703362"/>
                  <a:pt x="5665976" y="2703362"/>
                </a:cubicBezTo>
                <a:cubicBezTo>
                  <a:pt x="5683421" y="2980812"/>
                  <a:pt x="5988704" y="2913227"/>
                  <a:pt x="5988704" y="2923898"/>
                </a:cubicBezTo>
                <a:cubicBezTo>
                  <a:pt x="6014871" y="2941684"/>
                  <a:pt x="6046853" y="2899000"/>
                  <a:pt x="6078835" y="2941684"/>
                </a:cubicBezTo>
                <a:cubicBezTo>
                  <a:pt x="5942185" y="3137322"/>
                  <a:pt x="5732847" y="3183563"/>
                  <a:pt x="5546771" y="3329402"/>
                </a:cubicBezTo>
                <a:cubicBezTo>
                  <a:pt x="5700865" y="3379202"/>
                  <a:pt x="5790997" y="3208463"/>
                  <a:pt x="5904388" y="3229805"/>
                </a:cubicBezTo>
                <a:cubicBezTo>
                  <a:pt x="5959629" y="3283162"/>
                  <a:pt x="5793904" y="3368530"/>
                  <a:pt x="5953814" y="3393429"/>
                </a:cubicBezTo>
                <a:cubicBezTo>
                  <a:pt x="5884036" y="3439672"/>
                  <a:pt x="5834608" y="3485914"/>
                  <a:pt x="5785182" y="3539269"/>
                </a:cubicBezTo>
                <a:cubicBezTo>
                  <a:pt x="5700865" y="3635309"/>
                  <a:pt x="5683421" y="3699337"/>
                  <a:pt x="5724125" y="3827390"/>
                </a:cubicBezTo>
                <a:cubicBezTo>
                  <a:pt x="5750293" y="3912759"/>
                  <a:pt x="5788089" y="3991015"/>
                  <a:pt x="5753200" y="4090612"/>
                </a:cubicBezTo>
                <a:cubicBezTo>
                  <a:pt x="5729940" y="4158196"/>
                  <a:pt x="5738663" y="4204438"/>
                  <a:pt x="5825886" y="4172424"/>
                </a:cubicBezTo>
                <a:cubicBezTo>
                  <a:pt x="5918925" y="4140411"/>
                  <a:pt x="5953814" y="4200882"/>
                  <a:pt x="5930554" y="4321821"/>
                </a:cubicBezTo>
                <a:cubicBezTo>
                  <a:pt x="5916018" y="4400076"/>
                  <a:pt x="5930554" y="4424975"/>
                  <a:pt x="5994519" y="4414305"/>
                </a:cubicBezTo>
                <a:cubicBezTo>
                  <a:pt x="6064297" y="4403633"/>
                  <a:pt x="6131169" y="4353835"/>
                  <a:pt x="6218393" y="4378734"/>
                </a:cubicBezTo>
                <a:cubicBezTo>
                  <a:pt x="6148614" y="4521016"/>
                  <a:pt x="6000333" y="4478331"/>
                  <a:pt x="5918925" y="4613499"/>
                </a:cubicBezTo>
                <a:cubicBezTo>
                  <a:pt x="6014871" y="4613499"/>
                  <a:pt x="6090465" y="4613499"/>
                  <a:pt x="6160243" y="4585042"/>
                </a:cubicBezTo>
                <a:cubicBezTo>
                  <a:pt x="6189318" y="4574373"/>
                  <a:pt x="6221300" y="4560144"/>
                  <a:pt x="6238745" y="4602828"/>
                </a:cubicBezTo>
                <a:cubicBezTo>
                  <a:pt x="6259098" y="4652628"/>
                  <a:pt x="6218393" y="4670412"/>
                  <a:pt x="6195133" y="4677526"/>
                </a:cubicBezTo>
                <a:cubicBezTo>
                  <a:pt x="6128261" y="4702425"/>
                  <a:pt x="6075928" y="4759339"/>
                  <a:pt x="6017778" y="4805580"/>
                </a:cubicBezTo>
                <a:cubicBezTo>
                  <a:pt x="5892758" y="4905177"/>
                  <a:pt x="5756107" y="4990547"/>
                  <a:pt x="5651439" y="5154171"/>
                </a:cubicBezTo>
                <a:cubicBezTo>
                  <a:pt x="5782275" y="5111487"/>
                  <a:pt x="5881128" y="5011889"/>
                  <a:pt x="6006149" y="4994104"/>
                </a:cubicBezTo>
                <a:cubicBezTo>
                  <a:pt x="5898572" y="5143500"/>
                  <a:pt x="5761922" y="5243097"/>
                  <a:pt x="5633994" y="5353367"/>
                </a:cubicBezTo>
                <a:cubicBezTo>
                  <a:pt x="5596197" y="5385379"/>
                  <a:pt x="5558400" y="5406721"/>
                  <a:pt x="5552586" y="5474306"/>
                </a:cubicBezTo>
                <a:cubicBezTo>
                  <a:pt x="5535140" y="5605917"/>
                  <a:pt x="5488622" y="5712629"/>
                  <a:pt x="5383953" y="5769542"/>
                </a:cubicBezTo>
                <a:cubicBezTo>
                  <a:pt x="5383953" y="5769542"/>
                  <a:pt x="5389768" y="5790884"/>
                  <a:pt x="5392675" y="5801555"/>
                </a:cubicBezTo>
                <a:cubicBezTo>
                  <a:pt x="5456640" y="5805112"/>
                  <a:pt x="5506066" y="5726858"/>
                  <a:pt x="5584568" y="5755314"/>
                </a:cubicBezTo>
                <a:cubicBezTo>
                  <a:pt x="5506066" y="5862025"/>
                  <a:pt x="5442103" y="5954508"/>
                  <a:pt x="5334526" y="6004307"/>
                </a:cubicBezTo>
                <a:cubicBezTo>
                  <a:pt x="5247303" y="6043434"/>
                  <a:pt x="5139727" y="6068335"/>
                  <a:pt x="5075763" y="6196388"/>
                </a:cubicBezTo>
                <a:cubicBezTo>
                  <a:pt x="5148450" y="6221287"/>
                  <a:pt x="5203691" y="6189274"/>
                  <a:pt x="5258933" y="6167932"/>
                </a:cubicBezTo>
                <a:cubicBezTo>
                  <a:pt x="5343249" y="6132361"/>
                  <a:pt x="5427565" y="6093234"/>
                  <a:pt x="5511881" y="6057663"/>
                </a:cubicBezTo>
                <a:cubicBezTo>
                  <a:pt x="5543864" y="6043434"/>
                  <a:pt x="5578753" y="6036320"/>
                  <a:pt x="5599105" y="6100347"/>
                </a:cubicBezTo>
                <a:cubicBezTo>
                  <a:pt x="5491529" y="6114575"/>
                  <a:pt x="5427565" y="6199945"/>
                  <a:pt x="5360693" y="6281757"/>
                </a:cubicBezTo>
                <a:cubicBezTo>
                  <a:pt x="5322897" y="6327999"/>
                  <a:pt x="5290914" y="6388469"/>
                  <a:pt x="5224043" y="6367127"/>
                </a:cubicBezTo>
                <a:cubicBezTo>
                  <a:pt x="5189154" y="6356456"/>
                  <a:pt x="5165894" y="6388469"/>
                  <a:pt x="5168801" y="6431153"/>
                </a:cubicBezTo>
                <a:cubicBezTo>
                  <a:pt x="5183339" y="6580550"/>
                  <a:pt x="5099022" y="6630349"/>
                  <a:pt x="5011799" y="6658805"/>
                </a:cubicBezTo>
                <a:cubicBezTo>
                  <a:pt x="4883871" y="6701489"/>
                  <a:pt x="4770480" y="6786859"/>
                  <a:pt x="4651275" y="6858000"/>
                </a:cubicBezTo>
                <a:lnTo>
                  <a:pt x="1823619" y="6858000"/>
                </a:lnTo>
                <a:lnTo>
                  <a:pt x="947849" y="6858000"/>
                </a:lnTo>
                <a:lnTo>
                  <a:pt x="732568"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1" name="Google Shape;111;p3"/>
          <p:cNvSpPr txBox="1">
            <a:spLocks noGrp="1"/>
          </p:cNvSpPr>
          <p:nvPr>
            <p:ph type="title"/>
          </p:nvPr>
        </p:nvSpPr>
        <p:spPr>
          <a:xfrm>
            <a:off x="643468" y="609600"/>
            <a:ext cx="3992700" cy="3877197"/>
          </a:xfrm>
        </p:spPr>
        <p:txBody>
          <a:bodyPr spcFirstLastPara="1" vert="horz" lIns="91440" tIns="45720" rIns="91440" bIns="45720" rtlCol="0" anchor="b" anchorCtr="0">
            <a:normAutofit/>
          </a:bodyPr>
          <a:lstStyle/>
          <a:p>
            <a:pPr lvl="0">
              <a:spcBef>
                <a:spcPct val="0"/>
              </a:spcBef>
            </a:pPr>
            <a:r>
              <a:rPr lang="en-US" kern="1200" dirty="0">
                <a:solidFill>
                  <a:schemeClr val="tx1"/>
                </a:solidFill>
                <a:latin typeface="+mj-lt"/>
                <a:ea typeface="+mj-ea"/>
                <a:cs typeface="+mj-cs"/>
              </a:rPr>
              <a:t>Task Conditions</a:t>
            </a:r>
          </a:p>
        </p:txBody>
      </p:sp>
      <p:sp>
        <p:nvSpPr>
          <p:cNvPr id="6" name="TextBox 5">
            <a:extLst>
              <a:ext uri="{FF2B5EF4-FFF2-40B4-BE49-F238E27FC236}">
                <a16:creationId xmlns:a16="http://schemas.microsoft.com/office/drawing/2014/main" id="{A8E94991-8F62-49CD-A10F-CB4E3C3826AD}"/>
              </a:ext>
            </a:extLst>
          </p:cNvPr>
          <p:cNvSpPr txBox="1"/>
          <p:nvPr/>
        </p:nvSpPr>
        <p:spPr>
          <a:xfrm>
            <a:off x="7630510" y="2664372"/>
            <a:ext cx="1604927" cy="461665"/>
          </a:xfrm>
          <a:prstGeom prst="rect">
            <a:avLst/>
          </a:prstGeom>
          <a:noFill/>
        </p:spPr>
        <p:txBody>
          <a:bodyPr wrap="non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Congruent</a:t>
            </a:r>
            <a:endParaRPr 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A535227-0D5C-7E01-6CDA-8F27DFCBAA56}"/>
              </a:ext>
            </a:extLst>
          </p:cNvPr>
          <p:cNvSpPr txBox="1"/>
          <p:nvPr/>
        </p:nvSpPr>
        <p:spPr>
          <a:xfrm>
            <a:off x="7630510" y="6120581"/>
            <a:ext cx="1670650" cy="461665"/>
          </a:xfrm>
          <a:prstGeom prst="rect">
            <a:avLst/>
          </a:prstGeom>
          <a:noFill/>
        </p:spPr>
        <p:txBody>
          <a:bodyPr wrap="none" rtlCol="0">
            <a:spAutoFit/>
          </a:bodyPr>
          <a:lstStyle/>
          <a:p>
            <a:r>
              <a:rPr lang="en-US" sz="2400" dirty="0">
                <a:solidFill>
                  <a:schemeClr val="bg1"/>
                </a:solidFill>
                <a:latin typeface="Times New Roman" panose="02020603050405020304" pitchFamily="18" charset="0"/>
                <a:cs typeface="Times New Roman" panose="02020603050405020304" pitchFamily="18" charset="0"/>
              </a:rPr>
              <a:t>Incongruent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11"/>
                                        </p:tgtEl>
                                        <p:attrNameLst>
                                          <p:attrName>style.visibility</p:attrName>
                                        </p:attrNameLst>
                                      </p:cBhvr>
                                      <p:to>
                                        <p:strVal val="visible"/>
                                      </p:to>
                                    </p:set>
                                    <p:animEffect transition="in" filter="fade">
                                      <p:cBhvr>
                                        <p:cTn id="7" dur="4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456000" y="1160463"/>
            <a:ext cx="11736000" cy="1188000"/>
          </a:xfrm>
          <a:prstGeom prst="rect">
            <a:avLst/>
          </a:prstGeom>
          <a:noFill/>
          <a:ln>
            <a:noFill/>
          </a:ln>
        </p:spPr>
        <p:txBody>
          <a:bodyPr spcFirstLastPara="1" wrap="square" lIns="91425" tIns="45700" rIns="91425" bIns="45700" anchor="ctr" anchorCtr="0">
            <a:normAutofit/>
          </a:bodyPr>
          <a:lstStyle/>
          <a:p>
            <a:pPr lvl="0"/>
            <a:r>
              <a:rPr lang="en-US" dirty="0"/>
              <a:t>Dataset Overview</a:t>
            </a:r>
            <a:endParaRPr dirty="0"/>
          </a:p>
        </p:txBody>
      </p:sp>
      <p:sp>
        <p:nvSpPr>
          <p:cNvPr id="105" name="Google Shape;105;p2"/>
          <p:cNvSpPr txBox="1">
            <a:spLocks noGrp="1"/>
          </p:cNvSpPr>
          <p:nvPr>
            <p:ph type="body" idx="4294967295"/>
          </p:nvPr>
        </p:nvSpPr>
        <p:spPr>
          <a:xfrm>
            <a:off x="503841" y="2422361"/>
            <a:ext cx="11184317" cy="3768336"/>
          </a:xfrm>
          <a:prstGeom prst="rect">
            <a:avLst/>
          </a:prstGeom>
          <a:noFill/>
          <a:ln>
            <a:noFill/>
          </a:ln>
        </p:spPr>
        <p:txBody>
          <a:bodyPr spcFirstLastPara="1" wrap="square" lIns="91425" tIns="45700" rIns="91425" bIns="45700" anchor="t" anchorCtr="0">
            <a:normAutofit/>
          </a:bodyPr>
          <a:lstStyle/>
          <a:p>
            <a:pPr indent="-457200">
              <a:spcBef>
                <a:spcPts val="0"/>
              </a:spcBef>
              <a:buSzPts val="3200"/>
            </a:pPr>
            <a:r>
              <a:rPr lang="it-IT" sz="3200" dirty="0">
                <a:latin typeface="Times New Roman" panose="02020603050405020304" pitchFamily="18" charset="0"/>
                <a:cs typeface="Times New Roman" panose="02020603050405020304" pitchFamily="18" charset="0"/>
              </a:rPr>
              <a:t>In th experiment i have collected data from 6 paricipants.</a:t>
            </a:r>
          </a:p>
          <a:p>
            <a:pPr indent="-457200">
              <a:spcBef>
                <a:spcPts val="0"/>
              </a:spcBef>
              <a:buSzPts val="3200"/>
            </a:pPr>
            <a:r>
              <a:rPr lang="it-IT" sz="3200" dirty="0">
                <a:latin typeface="Times New Roman" panose="02020603050405020304" pitchFamily="18" charset="0"/>
                <a:cs typeface="Times New Roman" panose="02020603050405020304" pitchFamily="18" charset="0"/>
              </a:rPr>
              <a:t>All of the were between 22-26 years old &amp; university student.</a:t>
            </a:r>
          </a:p>
          <a:p>
            <a:pPr lvl="2" indent="-457200">
              <a:spcBef>
                <a:spcPts val="0"/>
              </a:spcBef>
              <a:buSzPts val="3200"/>
            </a:pPr>
            <a:r>
              <a:rPr lang="it-IT" dirty="0">
                <a:latin typeface="Times New Roman" panose="02020603050405020304" pitchFamily="18" charset="0"/>
                <a:cs typeface="Times New Roman" panose="02020603050405020304" pitchFamily="18" charset="0"/>
              </a:rPr>
              <a:t>Subject 1,3,5 are from bahelor program </a:t>
            </a:r>
          </a:p>
          <a:p>
            <a:pPr lvl="2" indent="-457200">
              <a:spcBef>
                <a:spcPts val="0"/>
              </a:spcBef>
              <a:buSzPts val="3200"/>
            </a:pPr>
            <a:r>
              <a:rPr lang="it-IT" dirty="0">
                <a:latin typeface="Times New Roman" panose="02020603050405020304" pitchFamily="18" charset="0"/>
                <a:cs typeface="Times New Roman" panose="02020603050405020304" pitchFamily="18" charset="0"/>
              </a:rPr>
              <a:t>Subject 2,4,6 are pursuing Masters</a:t>
            </a:r>
          </a:p>
        </p:txBody>
      </p:sp>
      <p:pic>
        <p:nvPicPr>
          <p:cNvPr id="3" name="Picture 2" descr="A screenshot of a computer&#10;&#10;AI-generated content may be incorrect.">
            <a:extLst>
              <a:ext uri="{FF2B5EF4-FFF2-40B4-BE49-F238E27FC236}">
                <a16:creationId xmlns:a16="http://schemas.microsoft.com/office/drawing/2014/main" id="{9A5E7237-9E4E-DFD6-1D5A-758F8469863A}"/>
              </a:ext>
            </a:extLst>
          </p:cNvPr>
          <p:cNvPicPr>
            <a:picLocks noChangeAspect="1"/>
          </p:cNvPicPr>
          <p:nvPr/>
        </p:nvPicPr>
        <p:blipFill>
          <a:blip r:embed="rId3"/>
          <a:stretch>
            <a:fillRect/>
          </a:stretch>
        </p:blipFill>
        <p:spPr>
          <a:xfrm>
            <a:off x="648929" y="4306529"/>
            <a:ext cx="10294373" cy="20251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197E9B27-AA7A-5926-E736-D76825C713DD}"/>
            </a:ext>
          </a:extLst>
        </p:cNvPr>
        <p:cNvGrpSpPr/>
        <p:nvPr/>
      </p:nvGrpSpPr>
      <p:grpSpPr>
        <a:xfrm>
          <a:off x="0" y="0"/>
          <a:ext cx="0" cy="0"/>
          <a:chOff x="0" y="0"/>
          <a:chExt cx="0" cy="0"/>
        </a:xfrm>
      </p:grpSpPr>
      <p:sp>
        <p:nvSpPr>
          <p:cNvPr id="111" name="Google Shape;111;p3">
            <a:extLst>
              <a:ext uri="{FF2B5EF4-FFF2-40B4-BE49-F238E27FC236}">
                <a16:creationId xmlns:a16="http://schemas.microsoft.com/office/drawing/2014/main" id="{6543DDCE-39A1-4B3A-7CC3-E1836B17A6CA}"/>
              </a:ext>
            </a:extLst>
          </p:cNvPr>
          <p:cNvSpPr txBox="1">
            <a:spLocks noGrp="1"/>
          </p:cNvSpPr>
          <p:nvPr>
            <p:ph type="title"/>
          </p:nvPr>
        </p:nvSpPr>
        <p:spPr>
          <a:xfrm>
            <a:off x="456000" y="1160463"/>
            <a:ext cx="11736000" cy="1188000"/>
          </a:xfrm>
          <a:prstGeom prst="rect">
            <a:avLst/>
          </a:prstGeom>
          <a:noFill/>
          <a:ln>
            <a:noFill/>
          </a:ln>
        </p:spPr>
        <p:txBody>
          <a:bodyPr spcFirstLastPara="1" wrap="square" lIns="91425" tIns="45700" rIns="91425" bIns="45700" anchor="ctr" anchorCtr="0">
            <a:normAutofit/>
          </a:bodyPr>
          <a:lstStyle/>
          <a:p>
            <a:pPr lvl="0"/>
            <a:r>
              <a:rPr lang="en-US" dirty="0"/>
              <a:t>Analysis and Visualization using MATLAB</a:t>
            </a:r>
            <a:endParaRPr dirty="0"/>
          </a:p>
        </p:txBody>
      </p:sp>
      <p:sp>
        <p:nvSpPr>
          <p:cNvPr id="112" name="Google Shape;112;p3">
            <a:extLst>
              <a:ext uri="{FF2B5EF4-FFF2-40B4-BE49-F238E27FC236}">
                <a16:creationId xmlns:a16="http://schemas.microsoft.com/office/drawing/2014/main" id="{C9B44FA3-C80F-9DB8-1AE1-CB53EB30C321}"/>
              </a:ext>
            </a:extLst>
          </p:cNvPr>
          <p:cNvSpPr txBox="1">
            <a:spLocks noGrp="1"/>
          </p:cNvSpPr>
          <p:nvPr>
            <p:ph type="body" idx="4294967295"/>
          </p:nvPr>
        </p:nvSpPr>
        <p:spPr>
          <a:xfrm>
            <a:off x="460512" y="2665379"/>
            <a:ext cx="5453591" cy="3337216"/>
          </a:xfrm>
          <a:prstGeom prst="rect">
            <a:avLst/>
          </a:prstGeom>
          <a:noFill/>
          <a:ln>
            <a:noFill/>
          </a:ln>
        </p:spPr>
        <p:txBody>
          <a:bodyPr spcFirstLastPara="1" wrap="square" lIns="91425" tIns="45700" rIns="91425" bIns="45700" anchor="t" anchorCtr="0">
            <a:normAutofit/>
          </a:bodyPr>
          <a:lstStyle/>
          <a:p>
            <a:pPr indent="-457200"/>
            <a:r>
              <a:rPr lang="en-US" dirty="0">
                <a:latin typeface="Times New Roman" panose="02020603050405020304" pitchFamily="18" charset="0"/>
                <a:cs typeface="Times New Roman" panose="02020603050405020304" pitchFamily="18" charset="0"/>
              </a:rPr>
              <a:t>Part: 1 - Individual Participant Visualization</a:t>
            </a:r>
          </a:p>
          <a:p>
            <a:pPr indent="-457200"/>
            <a:r>
              <a:rPr lang="en-US" dirty="0">
                <a:latin typeface="Times New Roman" panose="02020603050405020304" pitchFamily="18" charset="0"/>
                <a:cs typeface="Times New Roman" panose="02020603050405020304" pitchFamily="18" charset="0"/>
              </a:rPr>
              <a:t>Part: 2 - Odd (Subject 1,3,5) vs Even (Subject 2,4,6) Participant split data</a:t>
            </a:r>
          </a:p>
          <a:p>
            <a:pPr indent="-457200"/>
            <a:r>
              <a:rPr lang="en-US" dirty="0">
                <a:latin typeface="Times New Roman" panose="02020603050405020304" pitchFamily="18" charset="0"/>
                <a:cs typeface="Times New Roman" panose="02020603050405020304" pitchFamily="18" charset="0"/>
              </a:rPr>
              <a:t>Part: 3 - Pooled group level Visualization</a:t>
            </a:r>
            <a:endParaRPr dirty="0">
              <a:latin typeface="Times New Roman" panose="02020603050405020304" pitchFamily="18" charset="0"/>
              <a:cs typeface="Times New Roman" panose="02020603050405020304" pitchFamily="18" charset="0"/>
            </a:endParaRPr>
          </a:p>
        </p:txBody>
      </p:sp>
      <p:pic>
        <p:nvPicPr>
          <p:cNvPr id="4" name="Picture 3" descr="A screenshot of a computer&#10;&#10;AI-generated content may be incorrect.">
            <a:extLst>
              <a:ext uri="{FF2B5EF4-FFF2-40B4-BE49-F238E27FC236}">
                <a16:creationId xmlns:a16="http://schemas.microsoft.com/office/drawing/2014/main" id="{5218DD8A-A444-4516-07B3-61E82E1F5992}"/>
              </a:ext>
            </a:extLst>
          </p:cNvPr>
          <p:cNvPicPr>
            <a:picLocks noChangeAspect="1"/>
          </p:cNvPicPr>
          <p:nvPr/>
        </p:nvPicPr>
        <p:blipFill>
          <a:blip r:embed="rId3"/>
          <a:stretch>
            <a:fillRect/>
          </a:stretch>
        </p:blipFill>
        <p:spPr>
          <a:xfrm>
            <a:off x="5796118" y="2665379"/>
            <a:ext cx="5935726" cy="3337216"/>
          </a:xfrm>
          <a:prstGeom prst="rect">
            <a:avLst/>
          </a:prstGeom>
        </p:spPr>
      </p:pic>
    </p:spTree>
    <p:extLst>
      <p:ext uri="{BB962C8B-B14F-4D97-AF65-F5344CB8AC3E}">
        <p14:creationId xmlns:p14="http://schemas.microsoft.com/office/powerpoint/2010/main" val="1059873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46FEE41E-DB2A-6B67-0BA2-05DF4CD69B8E}"/>
            </a:ext>
          </a:extLst>
        </p:cNvPr>
        <p:cNvGrpSpPr/>
        <p:nvPr/>
      </p:nvGrpSpPr>
      <p:grpSpPr>
        <a:xfrm>
          <a:off x="0" y="0"/>
          <a:ext cx="0" cy="0"/>
          <a:chOff x="0" y="0"/>
          <a:chExt cx="0" cy="0"/>
        </a:xfrm>
      </p:grpSpPr>
      <p:sp>
        <p:nvSpPr>
          <p:cNvPr id="111" name="Google Shape;111;p3">
            <a:extLst>
              <a:ext uri="{FF2B5EF4-FFF2-40B4-BE49-F238E27FC236}">
                <a16:creationId xmlns:a16="http://schemas.microsoft.com/office/drawing/2014/main" id="{D8108070-9B13-F75F-5F91-56E655FF76F4}"/>
              </a:ext>
            </a:extLst>
          </p:cNvPr>
          <p:cNvSpPr txBox="1">
            <a:spLocks noGrp="1"/>
          </p:cNvSpPr>
          <p:nvPr>
            <p:ph type="title"/>
          </p:nvPr>
        </p:nvSpPr>
        <p:spPr>
          <a:xfrm>
            <a:off x="456000" y="1160463"/>
            <a:ext cx="11736000" cy="1188000"/>
          </a:xfrm>
          <a:prstGeom prst="rect">
            <a:avLst/>
          </a:prstGeom>
          <a:noFill/>
          <a:ln>
            <a:noFill/>
          </a:ln>
        </p:spPr>
        <p:txBody>
          <a:bodyPr spcFirstLastPara="1" wrap="square" lIns="91425" tIns="45700" rIns="91425" bIns="45700" anchor="ctr" anchorCtr="0">
            <a:normAutofit/>
          </a:bodyPr>
          <a:lstStyle/>
          <a:p>
            <a:pPr indent="-457200"/>
            <a:r>
              <a:rPr lang="en-US" dirty="0">
                <a:latin typeface="Times New Roman" panose="02020603050405020304" pitchFamily="18" charset="0"/>
                <a:cs typeface="Times New Roman" panose="02020603050405020304" pitchFamily="18" charset="0"/>
              </a:rPr>
              <a:t>Part: 1 - Individual Participant Visualization</a:t>
            </a:r>
          </a:p>
        </p:txBody>
      </p:sp>
      <p:sp>
        <p:nvSpPr>
          <p:cNvPr id="112" name="Google Shape;112;p3">
            <a:extLst>
              <a:ext uri="{FF2B5EF4-FFF2-40B4-BE49-F238E27FC236}">
                <a16:creationId xmlns:a16="http://schemas.microsoft.com/office/drawing/2014/main" id="{8088C250-E5AB-C5B4-70AA-176B9C4593F2}"/>
              </a:ext>
            </a:extLst>
          </p:cNvPr>
          <p:cNvSpPr txBox="1">
            <a:spLocks noGrp="1"/>
          </p:cNvSpPr>
          <p:nvPr>
            <p:ph type="body" idx="4294967295"/>
          </p:nvPr>
        </p:nvSpPr>
        <p:spPr>
          <a:xfrm>
            <a:off x="460512" y="2665379"/>
            <a:ext cx="4450701" cy="3879538"/>
          </a:xfrm>
          <a:prstGeom prst="rect">
            <a:avLst/>
          </a:prstGeom>
          <a:noFill/>
          <a:ln>
            <a:noFill/>
          </a:ln>
        </p:spPr>
        <p:txBody>
          <a:bodyPr spcFirstLastPara="1" wrap="square" lIns="91425" tIns="45700" rIns="91425" bIns="45700" anchor="t" anchorCtr="0">
            <a:normAutofit fontScale="92500"/>
          </a:bodyPr>
          <a:lstStyle/>
          <a:p>
            <a:pPr indent="-457200"/>
            <a:r>
              <a:rPr lang="en-US" dirty="0">
                <a:latin typeface="Times New Roman" panose="02020603050405020304" pitchFamily="18" charset="0"/>
                <a:cs typeface="Times New Roman" panose="02020603050405020304" pitchFamily="18" charset="0"/>
              </a:rPr>
              <a:t>I have used the MATLAB script provided in the class.</a:t>
            </a:r>
          </a:p>
          <a:p>
            <a:pPr indent="-457200"/>
            <a:r>
              <a:rPr lang="en-US" dirty="0">
                <a:latin typeface="Times New Roman" panose="02020603050405020304" pitchFamily="18" charset="0"/>
                <a:cs typeface="Times New Roman" panose="02020603050405020304" pitchFamily="18" charset="0"/>
              </a:rPr>
              <a:t>Additionally, I have done a few modification of the script:</a:t>
            </a:r>
          </a:p>
          <a:p>
            <a:pPr lvl="1" indent="-457200"/>
            <a:r>
              <a:rPr lang="en-US" sz="2800" dirty="0">
                <a:latin typeface="Times New Roman" panose="02020603050405020304" pitchFamily="18" charset="0"/>
                <a:cs typeface="Times New Roman" panose="02020603050405020304" pitchFamily="18" charset="0"/>
              </a:rPr>
              <a:t> loading all the dataset together.</a:t>
            </a:r>
          </a:p>
          <a:p>
            <a:pPr lvl="1" indent="-457200"/>
            <a:r>
              <a:rPr lang="en-US" sz="2800" dirty="0">
                <a:latin typeface="Times New Roman" panose="02020603050405020304" pitchFamily="18" charset="0"/>
                <a:cs typeface="Times New Roman" panose="02020603050405020304" pitchFamily="18" charset="0"/>
              </a:rPr>
              <a:t>Using a “for loop” for each dataset and figure.</a:t>
            </a:r>
          </a:p>
          <a:p>
            <a:pPr marL="0" lvl="0" indent="0" algn="l" rtl="0">
              <a:lnSpc>
                <a:spcPct val="90000"/>
              </a:lnSpc>
              <a:spcBef>
                <a:spcPts val="1000"/>
              </a:spcBef>
              <a:spcAft>
                <a:spcPts val="0"/>
              </a:spcAft>
              <a:buClr>
                <a:schemeClr val="dk1"/>
              </a:buClr>
              <a:buSzPts val="2800"/>
              <a:buNone/>
            </a:pPr>
            <a:endParaRPr lang="en-US"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800"/>
              <a:buNone/>
            </a:pPr>
            <a:endParaRPr dirty="0">
              <a:latin typeface="Times New Roman" panose="02020603050405020304" pitchFamily="18" charset="0"/>
              <a:cs typeface="Times New Roman" panose="02020603050405020304" pitchFamily="18" charset="0"/>
            </a:endParaRPr>
          </a:p>
        </p:txBody>
      </p:sp>
      <p:pic>
        <p:nvPicPr>
          <p:cNvPr id="3" name="Picture 2" descr="A screenshot of a computer&#10;&#10;AI-generated content may be incorrect.">
            <a:extLst>
              <a:ext uri="{FF2B5EF4-FFF2-40B4-BE49-F238E27FC236}">
                <a16:creationId xmlns:a16="http://schemas.microsoft.com/office/drawing/2014/main" id="{B205B5B3-D26D-44CD-955C-F7E2E64B366E}"/>
              </a:ext>
            </a:extLst>
          </p:cNvPr>
          <p:cNvPicPr>
            <a:picLocks noChangeAspect="1"/>
          </p:cNvPicPr>
          <p:nvPr/>
        </p:nvPicPr>
        <p:blipFill>
          <a:blip r:embed="rId3"/>
          <a:stretch>
            <a:fillRect/>
          </a:stretch>
        </p:blipFill>
        <p:spPr>
          <a:xfrm>
            <a:off x="4911213" y="2519477"/>
            <a:ext cx="7079226" cy="3980122"/>
          </a:xfrm>
          <a:prstGeom prst="rect">
            <a:avLst/>
          </a:prstGeom>
        </p:spPr>
      </p:pic>
    </p:spTree>
    <p:extLst>
      <p:ext uri="{BB962C8B-B14F-4D97-AF65-F5344CB8AC3E}">
        <p14:creationId xmlns:p14="http://schemas.microsoft.com/office/powerpoint/2010/main" val="616692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5759D503-A7E0-AD0C-10E2-572736CD2F95}"/>
            </a:ext>
          </a:extLst>
        </p:cNvPr>
        <p:cNvGrpSpPr/>
        <p:nvPr/>
      </p:nvGrpSpPr>
      <p:grpSpPr>
        <a:xfrm>
          <a:off x="0" y="0"/>
          <a:ext cx="0" cy="0"/>
          <a:chOff x="0" y="0"/>
          <a:chExt cx="0" cy="0"/>
        </a:xfrm>
      </p:grpSpPr>
      <p:sp useBgFill="1">
        <p:nvSpPr>
          <p:cNvPr id="133" name="Rectangle 132">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Shape 134">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09582926-5322-9588-6128-70A378A42082}"/>
              </a:ext>
            </a:extLst>
          </p:cNvPr>
          <p:cNvSpPr txBox="1">
            <a:spLocks noGrp="1"/>
          </p:cNvSpPr>
          <p:nvPr>
            <p:ph type="title"/>
          </p:nvPr>
        </p:nvSpPr>
        <p:spPr>
          <a:xfrm>
            <a:off x="838201" y="643467"/>
            <a:ext cx="3888526" cy="1800526"/>
          </a:xfrm>
        </p:spPr>
        <p:txBody>
          <a:bodyPr spcFirstLastPara="1" vert="horz" lIns="91440" tIns="45720" rIns="91440" bIns="45720" rtlCol="0" anchor="ctr" anchorCtr="0">
            <a:normAutofit/>
          </a:bodyPr>
          <a:lstStyle/>
          <a:p>
            <a:pPr lvl="0">
              <a:spcBef>
                <a:spcPct val="0"/>
              </a:spcBef>
            </a:pPr>
            <a:r>
              <a:rPr lang="en-US" sz="3400" kern="1200">
                <a:solidFill>
                  <a:schemeClr val="tx1"/>
                </a:solidFill>
                <a:latin typeface="+mj-lt"/>
                <a:ea typeface="+mj-ea"/>
                <a:cs typeface="+mj-cs"/>
              </a:rPr>
              <a:t>Part: 1 - Individual Participant Visualization</a:t>
            </a:r>
          </a:p>
        </p:txBody>
      </p:sp>
      <p:sp>
        <p:nvSpPr>
          <p:cNvPr id="112" name="Google Shape;112;p3">
            <a:extLst>
              <a:ext uri="{FF2B5EF4-FFF2-40B4-BE49-F238E27FC236}">
                <a16:creationId xmlns:a16="http://schemas.microsoft.com/office/drawing/2014/main" id="{9C26AFFD-F010-C06F-91EA-36F8A7C60B77}"/>
              </a:ext>
            </a:extLst>
          </p:cNvPr>
          <p:cNvSpPr txBox="1">
            <a:spLocks noGrp="1"/>
          </p:cNvSpPr>
          <p:nvPr>
            <p:ph type="body" idx="4294967295"/>
          </p:nvPr>
        </p:nvSpPr>
        <p:spPr>
          <a:xfrm>
            <a:off x="838201" y="2623381"/>
            <a:ext cx="3888528" cy="3553581"/>
          </a:xfrm>
        </p:spPr>
        <p:txBody>
          <a:bodyPr spcFirstLastPara="1" vert="horz" lIns="91440" tIns="45720" rIns="91440" bIns="45720" rtlCol="0" anchorCtr="0">
            <a:normAutofit/>
          </a:bodyPr>
          <a:lstStyle/>
          <a:p>
            <a:pPr marL="0" lvl="0" indent="-228600">
              <a:spcBef>
                <a:spcPts val="0"/>
              </a:spcBef>
              <a:spcAft>
                <a:spcPts val="600"/>
              </a:spcAft>
              <a:buClr>
                <a:srgbClr val="000000"/>
              </a:buClr>
              <a:buFont typeface="Arial" panose="020B0604020202020204" pitchFamily="34" charset="0"/>
              <a:buChar char="•"/>
            </a:pPr>
            <a:r>
              <a:rPr lang="en-US" sz="1900" kern="1200">
                <a:solidFill>
                  <a:schemeClr val="tx1"/>
                </a:solidFill>
                <a:latin typeface="+mn-lt"/>
                <a:ea typeface="+mn-ea"/>
                <a:cs typeface="+mn-cs"/>
              </a:rPr>
              <a:t>Here, we can see that Participant 1 showed faster reaction times in the congruent condition (around 500ms), slower responses in the incongruent condition (around 700ms), and intermediate reaction times in the neutral condition (above 600ms), which suggests the presence of a Stroop interference effect, where conflicting stimulus information increases response time.</a:t>
            </a:r>
            <a:endParaRPr lang="en-US" sz="1900" b="0" i="0" u="none" strike="noStrike" kern="1200" cap="none">
              <a:solidFill>
                <a:schemeClr val="tx1"/>
              </a:solidFill>
              <a:latin typeface="+mn-lt"/>
              <a:ea typeface="+mn-ea"/>
              <a:cs typeface="+mn-cs"/>
            </a:endParaRPr>
          </a:p>
        </p:txBody>
      </p:sp>
      <p:pic>
        <p:nvPicPr>
          <p:cNvPr id="3" name="Picture 2" descr="A graph of a group of boxes&#10;&#10;AI-generated content may be incorrect.">
            <a:extLst>
              <a:ext uri="{FF2B5EF4-FFF2-40B4-BE49-F238E27FC236}">
                <a16:creationId xmlns:a16="http://schemas.microsoft.com/office/drawing/2014/main" id="{1CB221D6-F64C-3CE2-7018-4EDF8169E6CA}"/>
              </a:ext>
            </a:extLst>
          </p:cNvPr>
          <p:cNvPicPr>
            <a:picLocks noChangeAspect="1"/>
          </p:cNvPicPr>
          <p:nvPr/>
        </p:nvPicPr>
        <p:blipFill>
          <a:blip r:embed="rId3"/>
          <a:srcRect l="-2036" r="4393" b="1"/>
          <a:stretch>
            <a:fillRect/>
          </a:stretch>
        </p:blipFill>
        <p:spPr>
          <a:xfrm>
            <a:off x="4726727" y="1330642"/>
            <a:ext cx="7169912" cy="4846320"/>
          </a:xfrm>
          <a:prstGeom prst="rect">
            <a:avLst/>
          </a:prstGeom>
          <a:noFill/>
        </p:spPr>
      </p:pic>
    </p:spTree>
    <p:extLst>
      <p:ext uri="{BB962C8B-B14F-4D97-AF65-F5344CB8AC3E}">
        <p14:creationId xmlns:p14="http://schemas.microsoft.com/office/powerpoint/2010/main" val="371524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732A05F6-DACF-637D-AE00-EF4D82CD14D3}"/>
            </a:ext>
          </a:extLst>
        </p:cNvPr>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Freeform: Shape 125">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3EC496ED-D6D2-4C90-0E48-F085D627339A}"/>
              </a:ext>
            </a:extLst>
          </p:cNvPr>
          <p:cNvSpPr txBox="1">
            <a:spLocks noGrp="1"/>
          </p:cNvSpPr>
          <p:nvPr>
            <p:ph type="title"/>
          </p:nvPr>
        </p:nvSpPr>
        <p:spPr>
          <a:xfrm>
            <a:off x="493566" y="-1305254"/>
            <a:ext cx="4620584" cy="4567137"/>
          </a:xfrm>
        </p:spPr>
        <p:txBody>
          <a:bodyPr spcFirstLastPara="1" vert="horz" lIns="91440" tIns="45720" rIns="91440" bIns="45720" rtlCol="0" anchor="b" anchorCtr="0">
            <a:normAutofit/>
          </a:bodyPr>
          <a:lstStyle/>
          <a:p>
            <a:pPr lvl="0">
              <a:spcBef>
                <a:spcPct val="0"/>
              </a:spcBef>
            </a:pPr>
            <a:r>
              <a:rPr lang="en-US" kern="1200" dirty="0">
                <a:solidFill>
                  <a:schemeClr val="tx1"/>
                </a:solidFill>
                <a:latin typeface="+mj-lt"/>
                <a:ea typeface="+mj-ea"/>
                <a:cs typeface="+mj-cs"/>
              </a:rPr>
              <a:t>Part: 1 - Individual Participant Visualization</a:t>
            </a:r>
          </a:p>
        </p:txBody>
      </p:sp>
      <p:sp>
        <p:nvSpPr>
          <p:cNvPr id="112" name="Google Shape;112;p3">
            <a:extLst>
              <a:ext uri="{FF2B5EF4-FFF2-40B4-BE49-F238E27FC236}">
                <a16:creationId xmlns:a16="http://schemas.microsoft.com/office/drawing/2014/main" id="{B3010A43-3167-23B4-B709-2FC1CD9BBE30}"/>
              </a:ext>
            </a:extLst>
          </p:cNvPr>
          <p:cNvSpPr txBox="1">
            <a:spLocks noGrp="1"/>
          </p:cNvSpPr>
          <p:nvPr>
            <p:ph type="body" idx="4294967295"/>
          </p:nvPr>
        </p:nvSpPr>
        <p:spPr>
          <a:xfrm>
            <a:off x="283703" y="3791643"/>
            <a:ext cx="4620584" cy="775494"/>
          </a:xfrm>
        </p:spPr>
        <p:txBody>
          <a:bodyPr spcFirstLastPara="1" vert="horz" lIns="91440" tIns="45720" rIns="91440" bIns="45720" rtlCol="0" anchorCtr="0">
            <a:noAutofit/>
          </a:bodyPr>
          <a:lstStyle/>
          <a:p>
            <a:pPr marL="0" lvl="0" indent="0">
              <a:spcAft>
                <a:spcPts val="600"/>
              </a:spcAft>
              <a:buClr>
                <a:srgbClr val="000000"/>
              </a:buClr>
              <a:buNone/>
            </a:pPr>
            <a:r>
              <a:rPr lang="en-US" sz="2400" kern="1200" dirty="0">
                <a:solidFill>
                  <a:schemeClr val="tx1"/>
                </a:solidFill>
                <a:latin typeface="Times New Roman" panose="02020603050405020304" pitchFamily="18" charset="0"/>
                <a:ea typeface="+mn-ea"/>
                <a:cs typeface="Times New Roman" panose="02020603050405020304" pitchFamily="18" charset="0"/>
              </a:rPr>
              <a:t>Here, we can see that Participant 2 showed not much of </a:t>
            </a:r>
            <a:r>
              <a:rPr lang="en-US" sz="2400" kern="1200" dirty="0" err="1">
                <a:solidFill>
                  <a:schemeClr val="tx1"/>
                </a:solidFill>
                <a:latin typeface="Times New Roman" panose="02020603050405020304" pitchFamily="18" charset="0"/>
                <a:ea typeface="+mn-ea"/>
                <a:cs typeface="Times New Roman" panose="02020603050405020304" pitchFamily="18" charset="0"/>
              </a:rPr>
              <a:t>stroop</a:t>
            </a:r>
            <a:r>
              <a:rPr lang="en-US" sz="2400" kern="1200" dirty="0">
                <a:solidFill>
                  <a:schemeClr val="tx1"/>
                </a:solidFill>
                <a:latin typeface="Times New Roman" panose="02020603050405020304" pitchFamily="18" charset="0"/>
                <a:ea typeface="+mn-ea"/>
                <a:cs typeface="Times New Roman" panose="02020603050405020304" pitchFamily="18" charset="0"/>
              </a:rPr>
              <a:t> effect in any condition .</a:t>
            </a:r>
            <a:endParaRPr lang="en-US" sz="2400" b="0" i="0" u="none" strike="noStrike" kern="1200" cap="none" dirty="0">
              <a:solidFill>
                <a:schemeClr val="tx1"/>
              </a:solidFill>
              <a:latin typeface="Times New Roman" panose="02020603050405020304" pitchFamily="18" charset="0"/>
              <a:ea typeface="+mn-ea"/>
              <a:cs typeface="Times New Roman" panose="02020603050405020304" pitchFamily="18" charset="0"/>
            </a:endParaRPr>
          </a:p>
        </p:txBody>
      </p:sp>
      <p:pic>
        <p:nvPicPr>
          <p:cNvPr id="4" name="Picture 3">
            <a:extLst>
              <a:ext uri="{FF2B5EF4-FFF2-40B4-BE49-F238E27FC236}">
                <a16:creationId xmlns:a16="http://schemas.microsoft.com/office/drawing/2014/main" id="{4100DEDF-BDA9-0EC7-A877-FB3AAB7FED03}"/>
              </a:ext>
            </a:extLst>
          </p:cNvPr>
          <p:cNvPicPr>
            <a:picLocks noChangeAspect="1"/>
          </p:cNvPicPr>
          <p:nvPr/>
        </p:nvPicPr>
        <p:blipFill>
          <a:blip r:embed="rId3"/>
          <a:stretch>
            <a:fillRect/>
          </a:stretch>
        </p:blipFill>
        <p:spPr>
          <a:xfrm>
            <a:off x="5187990" y="1225644"/>
            <a:ext cx="6829715" cy="4507611"/>
          </a:xfrm>
          <a:prstGeom prst="rect">
            <a:avLst/>
          </a:prstGeom>
        </p:spPr>
      </p:pic>
    </p:spTree>
    <p:extLst>
      <p:ext uri="{BB962C8B-B14F-4D97-AF65-F5344CB8AC3E}">
        <p14:creationId xmlns:p14="http://schemas.microsoft.com/office/powerpoint/2010/main" val="2957364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7396552E-6AAC-5757-F89D-6AF9FF4836DD}"/>
            </a:ext>
          </a:extLst>
        </p:cNvPr>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Freeform: Shape 125">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A9C3F1A4-B156-BCCD-E3BA-CAF540146D59}"/>
              </a:ext>
            </a:extLst>
          </p:cNvPr>
          <p:cNvSpPr txBox="1">
            <a:spLocks noGrp="1"/>
          </p:cNvSpPr>
          <p:nvPr>
            <p:ph type="title"/>
          </p:nvPr>
        </p:nvSpPr>
        <p:spPr>
          <a:xfrm>
            <a:off x="838201" y="643467"/>
            <a:ext cx="3888526" cy="1800526"/>
          </a:xfrm>
        </p:spPr>
        <p:txBody>
          <a:bodyPr spcFirstLastPara="1" vert="horz" lIns="91440" tIns="45720" rIns="91440" bIns="45720" rtlCol="0" anchor="ctr" anchorCtr="0">
            <a:normAutofit/>
          </a:bodyPr>
          <a:lstStyle/>
          <a:p>
            <a:pPr lvl="0">
              <a:spcBef>
                <a:spcPct val="0"/>
              </a:spcBef>
            </a:pPr>
            <a:r>
              <a:rPr lang="en-US" sz="3400" kern="1200">
                <a:solidFill>
                  <a:schemeClr val="tx1"/>
                </a:solidFill>
                <a:latin typeface="+mj-lt"/>
                <a:ea typeface="+mj-ea"/>
                <a:cs typeface="+mj-cs"/>
              </a:rPr>
              <a:t>Part: 1 - Individual Participant Visualization</a:t>
            </a:r>
          </a:p>
        </p:txBody>
      </p:sp>
      <p:sp>
        <p:nvSpPr>
          <p:cNvPr id="112" name="Google Shape;112;p3">
            <a:extLst>
              <a:ext uri="{FF2B5EF4-FFF2-40B4-BE49-F238E27FC236}">
                <a16:creationId xmlns:a16="http://schemas.microsoft.com/office/drawing/2014/main" id="{9FA46B13-2285-F0E9-A9C0-E9F5037A1392}"/>
              </a:ext>
            </a:extLst>
          </p:cNvPr>
          <p:cNvSpPr txBox="1">
            <a:spLocks noGrp="1"/>
          </p:cNvSpPr>
          <p:nvPr>
            <p:ph type="body" idx="4294967295"/>
          </p:nvPr>
        </p:nvSpPr>
        <p:spPr>
          <a:xfrm>
            <a:off x="838201" y="2623381"/>
            <a:ext cx="3888528" cy="3553581"/>
          </a:xfrm>
        </p:spPr>
        <p:txBody>
          <a:bodyPr spcFirstLastPara="1" vert="horz" lIns="91440" tIns="45720" rIns="91440" bIns="45720" rtlCol="0" anchorCtr="0">
            <a:normAutofit/>
          </a:bodyPr>
          <a:lstStyle/>
          <a:p>
            <a:pPr marL="0" lvl="0" indent="-228600">
              <a:spcBef>
                <a:spcPts val="0"/>
              </a:spcBef>
              <a:spcAft>
                <a:spcPts val="600"/>
              </a:spcAft>
              <a:buClr>
                <a:srgbClr val="000000"/>
              </a:buClr>
              <a:buFont typeface="Arial" panose="020B0604020202020204" pitchFamily="34" charset="0"/>
              <a:buChar char="•"/>
            </a:pPr>
            <a:r>
              <a:rPr lang="en-US" sz="2000" kern="1200" dirty="0">
                <a:solidFill>
                  <a:schemeClr val="tx1"/>
                </a:solidFill>
                <a:latin typeface="+mn-lt"/>
                <a:ea typeface="+mn-ea"/>
                <a:cs typeface="+mn-cs"/>
              </a:rPr>
              <a:t>Here, we can see that Participant 3 showing more faster response in congruent condition than neutral condition and there were no correct answer for incongruent tasks.</a:t>
            </a:r>
            <a:endParaRPr lang="en-US" sz="2000" b="0" i="0" u="none" strike="noStrike" kern="1200" cap="none" dirty="0">
              <a:solidFill>
                <a:schemeClr val="tx1"/>
              </a:solidFill>
              <a:latin typeface="+mn-lt"/>
              <a:ea typeface="+mn-ea"/>
              <a:cs typeface="+mn-cs"/>
            </a:endParaRPr>
          </a:p>
        </p:txBody>
      </p:sp>
      <p:pic>
        <p:nvPicPr>
          <p:cNvPr id="4" name="Picture 3" descr="A graph with blue and orange dots&#10;&#10;AI-generated content may be incorrect.">
            <a:extLst>
              <a:ext uri="{FF2B5EF4-FFF2-40B4-BE49-F238E27FC236}">
                <a16:creationId xmlns:a16="http://schemas.microsoft.com/office/drawing/2014/main" id="{BF0ACA45-DA80-6B79-C2F4-80CF222E0A31}"/>
              </a:ext>
            </a:extLst>
          </p:cNvPr>
          <p:cNvPicPr>
            <a:picLocks noChangeAspect="1"/>
          </p:cNvPicPr>
          <p:nvPr/>
        </p:nvPicPr>
        <p:blipFill>
          <a:blip r:embed="rId3"/>
          <a:stretch>
            <a:fillRect/>
          </a:stretch>
        </p:blipFill>
        <p:spPr>
          <a:xfrm>
            <a:off x="5245946" y="1337971"/>
            <a:ext cx="6336453" cy="4182058"/>
          </a:xfrm>
          <a:prstGeom prst="rect">
            <a:avLst/>
          </a:prstGeom>
        </p:spPr>
      </p:pic>
    </p:spTree>
    <p:extLst>
      <p:ext uri="{BB962C8B-B14F-4D97-AF65-F5344CB8AC3E}">
        <p14:creationId xmlns:p14="http://schemas.microsoft.com/office/powerpoint/2010/main" val="3288964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B5951D00-A659-407F-48FE-7B3E299BF1C8}"/>
            </a:ext>
          </a:extLst>
        </p:cNvPr>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Freeform: Shape 125">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2632FCCF-FD36-CFFB-9105-2BA8F13473FA}"/>
              </a:ext>
            </a:extLst>
          </p:cNvPr>
          <p:cNvSpPr txBox="1">
            <a:spLocks noGrp="1"/>
          </p:cNvSpPr>
          <p:nvPr>
            <p:ph type="title"/>
          </p:nvPr>
        </p:nvSpPr>
        <p:spPr>
          <a:xfrm>
            <a:off x="838201" y="643467"/>
            <a:ext cx="3888526" cy="1800526"/>
          </a:xfrm>
        </p:spPr>
        <p:txBody>
          <a:bodyPr spcFirstLastPara="1" vert="horz" lIns="91440" tIns="45720" rIns="91440" bIns="45720" rtlCol="0" anchor="ctr" anchorCtr="0">
            <a:normAutofit/>
          </a:bodyPr>
          <a:lstStyle/>
          <a:p>
            <a:pPr lvl="0">
              <a:spcBef>
                <a:spcPct val="0"/>
              </a:spcBef>
            </a:pPr>
            <a:r>
              <a:rPr lang="en-US" sz="3400" kern="1200" dirty="0">
                <a:solidFill>
                  <a:schemeClr val="tx1"/>
                </a:solidFill>
                <a:latin typeface="+mj-lt"/>
                <a:ea typeface="+mj-ea"/>
                <a:cs typeface="+mj-cs"/>
              </a:rPr>
              <a:t>Part: 1 - Individual Participant Visualization</a:t>
            </a:r>
          </a:p>
        </p:txBody>
      </p:sp>
      <p:sp>
        <p:nvSpPr>
          <p:cNvPr id="112" name="Google Shape;112;p3">
            <a:extLst>
              <a:ext uri="{FF2B5EF4-FFF2-40B4-BE49-F238E27FC236}">
                <a16:creationId xmlns:a16="http://schemas.microsoft.com/office/drawing/2014/main" id="{97F0F03D-C413-D9D0-6DE2-1907197ADDB0}"/>
              </a:ext>
            </a:extLst>
          </p:cNvPr>
          <p:cNvSpPr txBox="1">
            <a:spLocks noGrp="1"/>
          </p:cNvSpPr>
          <p:nvPr>
            <p:ph type="body" idx="4294967295"/>
          </p:nvPr>
        </p:nvSpPr>
        <p:spPr>
          <a:xfrm>
            <a:off x="838201" y="2623381"/>
            <a:ext cx="3888528" cy="3553581"/>
          </a:xfrm>
        </p:spPr>
        <p:txBody>
          <a:bodyPr spcFirstLastPara="1" vert="horz" lIns="91440" tIns="45720" rIns="91440" bIns="45720" rtlCol="0" anchorCtr="0">
            <a:normAutofit/>
          </a:bodyPr>
          <a:lstStyle/>
          <a:p>
            <a:pPr marL="0" lvl="0" indent="-228600">
              <a:spcBef>
                <a:spcPts val="0"/>
              </a:spcBef>
              <a:spcAft>
                <a:spcPts val="600"/>
              </a:spcAft>
              <a:buClr>
                <a:srgbClr val="000000"/>
              </a:buClr>
              <a:buFont typeface="Arial" panose="020B0604020202020204" pitchFamily="34" charset="0"/>
              <a:buChar char="•"/>
            </a:pPr>
            <a:r>
              <a:rPr lang="en-US" sz="2400" kern="1200" dirty="0">
                <a:solidFill>
                  <a:schemeClr val="tx1"/>
                </a:solidFill>
                <a:latin typeface="Times New Roman" panose="02020603050405020304" pitchFamily="18" charset="0"/>
                <a:ea typeface="+mn-ea"/>
                <a:cs typeface="Times New Roman" panose="02020603050405020304" pitchFamily="18" charset="0"/>
              </a:rPr>
              <a:t>Here, we can see that Participant 4 showed the </a:t>
            </a:r>
            <a:r>
              <a:rPr lang="en-US" sz="2400" kern="1200" dirty="0" err="1">
                <a:solidFill>
                  <a:schemeClr val="tx1"/>
                </a:solidFill>
                <a:latin typeface="Times New Roman" panose="02020603050405020304" pitchFamily="18" charset="0"/>
                <a:ea typeface="+mn-ea"/>
                <a:cs typeface="Times New Roman" panose="02020603050405020304" pitchFamily="18" charset="0"/>
              </a:rPr>
              <a:t>stroop</a:t>
            </a:r>
            <a:r>
              <a:rPr lang="en-US" sz="2400" kern="1200" dirty="0">
                <a:solidFill>
                  <a:schemeClr val="tx1"/>
                </a:solidFill>
                <a:latin typeface="Times New Roman" panose="02020603050405020304" pitchFamily="18" charset="0"/>
                <a:ea typeface="+mn-ea"/>
                <a:cs typeface="Times New Roman" panose="02020603050405020304" pitchFamily="18" charset="0"/>
              </a:rPr>
              <a:t> effect.</a:t>
            </a:r>
            <a:endParaRPr lang="en-US" sz="2400" b="0" i="0" u="none" strike="noStrike" kern="1200" cap="none" dirty="0">
              <a:solidFill>
                <a:schemeClr val="tx1"/>
              </a:solidFill>
              <a:latin typeface="Times New Roman" panose="02020603050405020304" pitchFamily="18" charset="0"/>
              <a:ea typeface="+mn-ea"/>
              <a:cs typeface="Times New Roman" panose="02020603050405020304" pitchFamily="18" charset="0"/>
            </a:endParaRPr>
          </a:p>
        </p:txBody>
      </p:sp>
      <p:pic>
        <p:nvPicPr>
          <p:cNvPr id="4" name="Picture 3" descr="A graph of a group of blue and orange boxes&#10;&#10;AI-generated content may be incorrect.">
            <a:extLst>
              <a:ext uri="{FF2B5EF4-FFF2-40B4-BE49-F238E27FC236}">
                <a16:creationId xmlns:a16="http://schemas.microsoft.com/office/drawing/2014/main" id="{5EB376D2-A90C-5AF2-9AC5-C20767E16641}"/>
              </a:ext>
            </a:extLst>
          </p:cNvPr>
          <p:cNvPicPr>
            <a:picLocks noChangeAspect="1"/>
          </p:cNvPicPr>
          <p:nvPr/>
        </p:nvPicPr>
        <p:blipFill>
          <a:blip r:embed="rId3"/>
          <a:stretch>
            <a:fillRect/>
          </a:stretch>
        </p:blipFill>
        <p:spPr>
          <a:xfrm>
            <a:off x="5175184" y="1268607"/>
            <a:ext cx="6546646" cy="4320785"/>
          </a:xfrm>
          <a:prstGeom prst="rect">
            <a:avLst/>
          </a:prstGeom>
        </p:spPr>
      </p:pic>
    </p:spTree>
    <p:extLst>
      <p:ext uri="{BB962C8B-B14F-4D97-AF65-F5344CB8AC3E}">
        <p14:creationId xmlns:p14="http://schemas.microsoft.com/office/powerpoint/2010/main" val="1570895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7C0608D7-67F5-46C1-90F8-EF9AFDC308D5}"/>
            </a:ext>
          </a:extLst>
        </p:cNvPr>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Freeform: Shape 125">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B2840793-23AA-CB2B-7E38-5D8C500D4896}"/>
              </a:ext>
            </a:extLst>
          </p:cNvPr>
          <p:cNvSpPr txBox="1">
            <a:spLocks noGrp="1"/>
          </p:cNvSpPr>
          <p:nvPr>
            <p:ph type="title"/>
          </p:nvPr>
        </p:nvSpPr>
        <p:spPr>
          <a:xfrm>
            <a:off x="838201" y="643467"/>
            <a:ext cx="3888526" cy="1800526"/>
          </a:xfrm>
        </p:spPr>
        <p:txBody>
          <a:bodyPr spcFirstLastPara="1" vert="horz" lIns="91440" tIns="45720" rIns="91440" bIns="45720" rtlCol="0" anchor="ctr" anchorCtr="0">
            <a:normAutofit/>
          </a:bodyPr>
          <a:lstStyle/>
          <a:p>
            <a:pPr lvl="0">
              <a:spcBef>
                <a:spcPct val="0"/>
              </a:spcBef>
            </a:pPr>
            <a:r>
              <a:rPr lang="en-US" sz="3400" kern="1200" dirty="0">
                <a:solidFill>
                  <a:schemeClr val="tx1"/>
                </a:solidFill>
                <a:latin typeface="+mj-lt"/>
                <a:ea typeface="+mj-ea"/>
                <a:cs typeface="+mj-cs"/>
              </a:rPr>
              <a:t>Part: 1 - Individual Participant Visualization</a:t>
            </a:r>
          </a:p>
        </p:txBody>
      </p:sp>
      <p:sp>
        <p:nvSpPr>
          <p:cNvPr id="112" name="Google Shape;112;p3">
            <a:extLst>
              <a:ext uri="{FF2B5EF4-FFF2-40B4-BE49-F238E27FC236}">
                <a16:creationId xmlns:a16="http://schemas.microsoft.com/office/drawing/2014/main" id="{75968608-01FC-2DEB-54AD-48C36977163F}"/>
              </a:ext>
            </a:extLst>
          </p:cNvPr>
          <p:cNvSpPr txBox="1">
            <a:spLocks noGrp="1"/>
          </p:cNvSpPr>
          <p:nvPr>
            <p:ph type="body" idx="4294967295"/>
          </p:nvPr>
        </p:nvSpPr>
        <p:spPr>
          <a:xfrm>
            <a:off x="838201" y="2623381"/>
            <a:ext cx="3888528" cy="3553581"/>
          </a:xfrm>
        </p:spPr>
        <p:txBody>
          <a:bodyPr spcFirstLastPara="1" vert="horz" lIns="91440" tIns="45720" rIns="91440" bIns="45720" rtlCol="0" anchorCtr="0">
            <a:normAutofit/>
          </a:bodyPr>
          <a:lstStyle/>
          <a:p>
            <a:pPr marL="0" lvl="0" indent="-228600">
              <a:spcBef>
                <a:spcPts val="0"/>
              </a:spcBef>
              <a:spcAft>
                <a:spcPts val="600"/>
              </a:spcAft>
              <a:buClr>
                <a:srgbClr val="000000"/>
              </a:buClr>
              <a:buFont typeface="Arial" panose="020B0604020202020204" pitchFamily="34" charset="0"/>
              <a:buChar char="•"/>
            </a:pPr>
            <a:r>
              <a:rPr lang="en-US" sz="2400" kern="1200" dirty="0">
                <a:solidFill>
                  <a:schemeClr val="tx1"/>
                </a:solidFill>
                <a:latin typeface="Times New Roman" panose="02020603050405020304" pitchFamily="18" charset="0"/>
                <a:ea typeface="+mn-ea"/>
                <a:cs typeface="Times New Roman" panose="02020603050405020304" pitchFamily="18" charset="0"/>
              </a:rPr>
              <a:t>Here, we can see that Participant 5 not showing any effect at all in all condition.</a:t>
            </a:r>
            <a:endParaRPr lang="en-US" sz="2400" b="0" i="0" u="none" strike="noStrike" kern="1200" cap="none" dirty="0">
              <a:solidFill>
                <a:schemeClr val="tx1"/>
              </a:solidFill>
              <a:latin typeface="Times New Roman" panose="02020603050405020304" pitchFamily="18" charset="0"/>
              <a:ea typeface="+mn-ea"/>
              <a:cs typeface="Times New Roman" panose="02020603050405020304" pitchFamily="18" charset="0"/>
            </a:endParaRPr>
          </a:p>
        </p:txBody>
      </p:sp>
      <p:pic>
        <p:nvPicPr>
          <p:cNvPr id="4" name="Picture 3" descr="A graph of a group of blue squares with black text&#10;&#10;AI-generated content may be incorrect.">
            <a:extLst>
              <a:ext uri="{FF2B5EF4-FFF2-40B4-BE49-F238E27FC236}">
                <a16:creationId xmlns:a16="http://schemas.microsoft.com/office/drawing/2014/main" id="{6731ABB4-00FE-613D-2E9E-25168F36D939}"/>
              </a:ext>
            </a:extLst>
          </p:cNvPr>
          <p:cNvPicPr>
            <a:picLocks noChangeAspect="1"/>
          </p:cNvPicPr>
          <p:nvPr/>
        </p:nvPicPr>
        <p:blipFill>
          <a:blip r:embed="rId3"/>
          <a:stretch>
            <a:fillRect/>
          </a:stretch>
        </p:blipFill>
        <p:spPr>
          <a:xfrm>
            <a:off x="5231569" y="1265254"/>
            <a:ext cx="6556808" cy="4327492"/>
          </a:xfrm>
          <a:prstGeom prst="rect">
            <a:avLst/>
          </a:prstGeom>
        </p:spPr>
      </p:pic>
    </p:spTree>
    <p:extLst>
      <p:ext uri="{BB962C8B-B14F-4D97-AF65-F5344CB8AC3E}">
        <p14:creationId xmlns:p14="http://schemas.microsoft.com/office/powerpoint/2010/main" val="2819943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D2A6ED7B-8E7B-A1E9-7D2B-556D9413894A}"/>
            </a:ext>
          </a:extLst>
        </p:cNvPr>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Freeform: Shape 125">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78D1557B-E3F8-0515-BED1-2B21E98C5D7D}"/>
              </a:ext>
            </a:extLst>
          </p:cNvPr>
          <p:cNvSpPr txBox="1">
            <a:spLocks noGrp="1"/>
          </p:cNvSpPr>
          <p:nvPr>
            <p:ph type="title"/>
          </p:nvPr>
        </p:nvSpPr>
        <p:spPr>
          <a:xfrm>
            <a:off x="838201" y="643467"/>
            <a:ext cx="3888526" cy="1800526"/>
          </a:xfrm>
        </p:spPr>
        <p:txBody>
          <a:bodyPr spcFirstLastPara="1" vert="horz" lIns="91440" tIns="45720" rIns="91440" bIns="45720" rtlCol="0" anchor="ctr" anchorCtr="0">
            <a:normAutofit/>
          </a:bodyPr>
          <a:lstStyle/>
          <a:p>
            <a:pPr lvl="0">
              <a:spcBef>
                <a:spcPct val="0"/>
              </a:spcBef>
            </a:pPr>
            <a:r>
              <a:rPr lang="en-US" sz="3400" kern="1200">
                <a:solidFill>
                  <a:schemeClr val="tx1"/>
                </a:solidFill>
                <a:latin typeface="+mj-lt"/>
                <a:ea typeface="+mj-ea"/>
                <a:cs typeface="+mj-cs"/>
              </a:rPr>
              <a:t>Part: 1 - Individual Participant Visualization</a:t>
            </a:r>
          </a:p>
        </p:txBody>
      </p:sp>
      <p:sp>
        <p:nvSpPr>
          <p:cNvPr id="112" name="Google Shape;112;p3">
            <a:extLst>
              <a:ext uri="{FF2B5EF4-FFF2-40B4-BE49-F238E27FC236}">
                <a16:creationId xmlns:a16="http://schemas.microsoft.com/office/drawing/2014/main" id="{D2C34E15-A214-8A1F-0B6B-C9EE589626B7}"/>
              </a:ext>
            </a:extLst>
          </p:cNvPr>
          <p:cNvSpPr txBox="1">
            <a:spLocks noGrp="1"/>
          </p:cNvSpPr>
          <p:nvPr>
            <p:ph type="body" idx="4294967295"/>
          </p:nvPr>
        </p:nvSpPr>
        <p:spPr>
          <a:xfrm>
            <a:off x="681892" y="3730844"/>
            <a:ext cx="3740208" cy="2426479"/>
          </a:xfrm>
        </p:spPr>
        <p:txBody>
          <a:bodyPr spcFirstLastPara="1" vert="horz" lIns="91440" tIns="45720" rIns="91440" bIns="45720" rtlCol="0" anchorCtr="0">
            <a:normAutofit/>
          </a:bodyPr>
          <a:lstStyle/>
          <a:p>
            <a:pPr marL="0" lvl="0" indent="-228600">
              <a:spcBef>
                <a:spcPts val="0"/>
              </a:spcBef>
              <a:spcAft>
                <a:spcPts val="600"/>
              </a:spcAft>
              <a:buClr>
                <a:srgbClr val="000000"/>
              </a:buClr>
              <a:buFont typeface="Arial" panose="020B0604020202020204" pitchFamily="34" charset="0"/>
              <a:buChar char="•"/>
            </a:pPr>
            <a:r>
              <a:rPr lang="en-US" sz="1900" kern="1200" dirty="0">
                <a:solidFill>
                  <a:schemeClr val="tx1"/>
                </a:solidFill>
                <a:latin typeface="+mn-lt"/>
                <a:ea typeface="+mn-ea"/>
                <a:cs typeface="+mn-cs"/>
              </a:rPr>
              <a:t>Here, we can see that Participant 6 has the </a:t>
            </a:r>
            <a:r>
              <a:rPr lang="en-US" sz="1900" kern="1200" dirty="0" err="1">
                <a:solidFill>
                  <a:schemeClr val="tx1"/>
                </a:solidFill>
                <a:latin typeface="+mn-lt"/>
                <a:ea typeface="+mn-ea"/>
                <a:cs typeface="+mn-cs"/>
              </a:rPr>
              <a:t>stroop</a:t>
            </a:r>
            <a:r>
              <a:rPr lang="en-US" sz="1900" kern="1200" dirty="0">
                <a:solidFill>
                  <a:schemeClr val="tx1"/>
                </a:solidFill>
                <a:latin typeface="+mn-lt"/>
                <a:ea typeface="+mn-ea"/>
                <a:cs typeface="+mn-cs"/>
              </a:rPr>
              <a:t> effect  in the incongruent </a:t>
            </a:r>
            <a:r>
              <a:rPr lang="en-US" sz="1900" kern="1200" dirty="0" err="1">
                <a:solidFill>
                  <a:schemeClr val="tx1"/>
                </a:solidFill>
                <a:latin typeface="+mn-lt"/>
                <a:ea typeface="+mn-ea"/>
                <a:cs typeface="+mn-cs"/>
              </a:rPr>
              <a:t>ccondition</a:t>
            </a:r>
            <a:r>
              <a:rPr lang="en-US" sz="1900" kern="1200" dirty="0">
                <a:solidFill>
                  <a:schemeClr val="tx1"/>
                </a:solidFill>
                <a:latin typeface="+mn-lt"/>
                <a:ea typeface="+mn-ea"/>
                <a:cs typeface="+mn-cs"/>
              </a:rPr>
              <a:t> task.</a:t>
            </a:r>
            <a:endParaRPr lang="en-US" sz="1900" b="0" i="0" u="none" strike="noStrike" kern="1200" cap="none" dirty="0">
              <a:solidFill>
                <a:schemeClr val="tx1"/>
              </a:solidFill>
              <a:latin typeface="+mn-lt"/>
              <a:ea typeface="+mn-ea"/>
              <a:cs typeface="+mn-cs"/>
            </a:endParaRPr>
          </a:p>
        </p:txBody>
      </p:sp>
      <p:pic>
        <p:nvPicPr>
          <p:cNvPr id="4" name="Picture 3" descr="A graph of a graph with blue and orange dots&#10;&#10;AI-generated content may be incorrect.">
            <a:extLst>
              <a:ext uri="{FF2B5EF4-FFF2-40B4-BE49-F238E27FC236}">
                <a16:creationId xmlns:a16="http://schemas.microsoft.com/office/drawing/2014/main" id="{CFD9CFA7-8EF2-90C9-BD76-299FE39FA76C}"/>
              </a:ext>
            </a:extLst>
          </p:cNvPr>
          <p:cNvPicPr>
            <a:picLocks noChangeAspect="1"/>
          </p:cNvPicPr>
          <p:nvPr/>
        </p:nvPicPr>
        <p:blipFill>
          <a:blip r:embed="rId3"/>
          <a:stretch>
            <a:fillRect/>
          </a:stretch>
        </p:blipFill>
        <p:spPr>
          <a:xfrm>
            <a:off x="4921277" y="1333868"/>
            <a:ext cx="6905962" cy="4551812"/>
          </a:xfrm>
          <a:prstGeom prst="rect">
            <a:avLst/>
          </a:prstGeom>
        </p:spPr>
      </p:pic>
    </p:spTree>
    <p:extLst>
      <p:ext uri="{BB962C8B-B14F-4D97-AF65-F5344CB8AC3E}">
        <p14:creationId xmlns:p14="http://schemas.microsoft.com/office/powerpoint/2010/main" val="3304219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12F87CDE-662B-72CC-B246-4AE26A8761B5}"/>
            </a:ext>
          </a:extLst>
        </p:cNvPr>
        <p:cNvGrpSpPr/>
        <p:nvPr/>
      </p:nvGrpSpPr>
      <p:grpSpPr>
        <a:xfrm>
          <a:off x="0" y="0"/>
          <a:ext cx="0" cy="0"/>
          <a:chOff x="0" y="0"/>
          <a:chExt cx="0" cy="0"/>
        </a:xfrm>
      </p:grpSpPr>
      <p:sp>
        <p:nvSpPr>
          <p:cNvPr id="111" name="Google Shape;111;p3">
            <a:extLst>
              <a:ext uri="{FF2B5EF4-FFF2-40B4-BE49-F238E27FC236}">
                <a16:creationId xmlns:a16="http://schemas.microsoft.com/office/drawing/2014/main" id="{723BE892-51E5-1CBE-8600-BC03668D4855}"/>
              </a:ext>
            </a:extLst>
          </p:cNvPr>
          <p:cNvSpPr txBox="1">
            <a:spLocks noGrp="1"/>
          </p:cNvSpPr>
          <p:nvPr>
            <p:ph type="title"/>
          </p:nvPr>
        </p:nvSpPr>
        <p:spPr>
          <a:xfrm>
            <a:off x="456000" y="1160463"/>
            <a:ext cx="11736000" cy="1188000"/>
          </a:xfrm>
          <a:prstGeom prst="rect">
            <a:avLst/>
          </a:prstGeom>
          <a:noFill/>
          <a:ln>
            <a:noFill/>
          </a:ln>
        </p:spPr>
        <p:txBody>
          <a:bodyPr spcFirstLastPara="1" wrap="square" lIns="91425" tIns="45700" rIns="91425" bIns="45700" anchor="ctr" anchorCtr="0">
            <a:normAutofit/>
          </a:bodyPr>
          <a:lstStyle/>
          <a:p>
            <a:pPr lvl="0"/>
            <a:r>
              <a:rPr lang="en-US" kern="1200" dirty="0">
                <a:solidFill>
                  <a:schemeClr val="tx1"/>
                </a:solidFill>
              </a:rPr>
              <a:t>Part: 2 - Odd vs Even Participant split data</a:t>
            </a:r>
            <a:endParaRPr dirty="0"/>
          </a:p>
        </p:txBody>
      </p:sp>
      <p:sp>
        <p:nvSpPr>
          <p:cNvPr id="112" name="Google Shape;112;p3">
            <a:extLst>
              <a:ext uri="{FF2B5EF4-FFF2-40B4-BE49-F238E27FC236}">
                <a16:creationId xmlns:a16="http://schemas.microsoft.com/office/drawing/2014/main" id="{C1C48697-C7B0-2C4F-A234-19EB32DEB3C5}"/>
              </a:ext>
            </a:extLst>
          </p:cNvPr>
          <p:cNvSpPr txBox="1">
            <a:spLocks noGrp="1"/>
          </p:cNvSpPr>
          <p:nvPr>
            <p:ph type="body" idx="4294967295"/>
          </p:nvPr>
        </p:nvSpPr>
        <p:spPr>
          <a:xfrm>
            <a:off x="456000" y="3245226"/>
            <a:ext cx="4398227" cy="2452311"/>
          </a:xfrm>
          <a:prstGeom prst="rect">
            <a:avLst/>
          </a:prstGeom>
          <a:noFill/>
          <a:ln>
            <a:noFill/>
          </a:ln>
        </p:spPr>
        <p:txBody>
          <a:bodyPr spcFirstLastPara="1" wrap="square" lIns="91425" tIns="45700" rIns="91425" bIns="45700" anchor="t" anchorCtr="0">
            <a:normAutofit fontScale="92500" lnSpcReduction="10000"/>
          </a:bodyPr>
          <a:lstStyle/>
          <a:p>
            <a:pPr marL="0" lvl="0" indent="0" rtl="0">
              <a:lnSpc>
                <a:spcPct val="90000"/>
              </a:lnSpc>
              <a:spcBef>
                <a:spcPts val="1000"/>
              </a:spcBef>
              <a:spcAft>
                <a:spcPts val="0"/>
              </a:spcAft>
              <a:buClr>
                <a:schemeClr val="dk1"/>
              </a:buClr>
              <a:buSzPts val="2800"/>
              <a:buNone/>
            </a:pPr>
            <a:r>
              <a:rPr lang="en-US" dirty="0">
                <a:latin typeface="Times New Roman" panose="02020603050405020304" pitchFamily="18" charset="0"/>
                <a:cs typeface="Times New Roman" panose="02020603050405020304" pitchFamily="18" charset="0"/>
              </a:rPr>
              <a:t>Here, I have used the same MATLAB script and then defined the dataset into two groups and plotted them in a figure to show the differences between those groups in different conditions. </a:t>
            </a:r>
            <a:endParaRPr dirty="0">
              <a:latin typeface="Times New Roman" panose="02020603050405020304" pitchFamily="18" charset="0"/>
              <a:cs typeface="Times New Roman" panose="020206030504050203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25F97255-E57F-9500-CF9F-ECDE2BF4B2CB}"/>
              </a:ext>
            </a:extLst>
          </p:cNvPr>
          <p:cNvPicPr>
            <a:picLocks noChangeAspect="1"/>
          </p:cNvPicPr>
          <p:nvPr/>
        </p:nvPicPr>
        <p:blipFill>
          <a:blip r:embed="rId3"/>
          <a:stretch>
            <a:fillRect/>
          </a:stretch>
        </p:blipFill>
        <p:spPr>
          <a:xfrm>
            <a:off x="4601497" y="2528502"/>
            <a:ext cx="7129991" cy="4008663"/>
          </a:xfrm>
          <a:prstGeom prst="rect">
            <a:avLst/>
          </a:prstGeom>
        </p:spPr>
      </p:pic>
    </p:spTree>
    <p:extLst>
      <p:ext uri="{BB962C8B-B14F-4D97-AF65-F5344CB8AC3E}">
        <p14:creationId xmlns:p14="http://schemas.microsoft.com/office/powerpoint/2010/main" val="2463572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5531AFAA-0BBA-0440-277F-C3B8B8926297}"/>
            </a:ext>
          </a:extLst>
        </p:cNvPr>
        <p:cNvGrpSpPr/>
        <p:nvPr/>
      </p:nvGrpSpPr>
      <p:grpSpPr>
        <a:xfrm>
          <a:off x="0" y="0"/>
          <a:ext cx="0" cy="0"/>
          <a:chOff x="0" y="0"/>
          <a:chExt cx="0" cy="0"/>
        </a:xfrm>
      </p:grpSpPr>
      <p:sp useBgFill="1">
        <p:nvSpPr>
          <p:cNvPr id="117" name="Rectangle 116">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Shape 118">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EAC29C28-F6AC-0965-39A8-B32CC13E3A0C}"/>
              </a:ext>
            </a:extLst>
          </p:cNvPr>
          <p:cNvSpPr txBox="1">
            <a:spLocks noGrp="1"/>
          </p:cNvSpPr>
          <p:nvPr>
            <p:ph type="title"/>
          </p:nvPr>
        </p:nvSpPr>
        <p:spPr>
          <a:xfrm>
            <a:off x="370719" y="232065"/>
            <a:ext cx="3888526" cy="1800526"/>
          </a:xfrm>
        </p:spPr>
        <p:txBody>
          <a:bodyPr spcFirstLastPara="1" vert="horz" lIns="91440" tIns="45720" rIns="91440" bIns="45720" rtlCol="0" anchor="ctr" anchorCtr="0">
            <a:normAutofit/>
          </a:bodyPr>
          <a:lstStyle/>
          <a:p>
            <a:pPr indent="-457200">
              <a:spcBef>
                <a:spcPct val="0"/>
              </a:spcBef>
            </a:pPr>
            <a:r>
              <a:rPr lang="en-US" sz="3700" kern="1200" dirty="0">
                <a:solidFill>
                  <a:schemeClr val="tx1"/>
                </a:solidFill>
                <a:latin typeface="+mj-lt"/>
                <a:ea typeface="+mj-ea"/>
                <a:cs typeface="+mj-cs"/>
              </a:rPr>
              <a:t>Part: 2 - Odd vs Even Participant split data</a:t>
            </a:r>
          </a:p>
        </p:txBody>
      </p:sp>
      <p:sp>
        <p:nvSpPr>
          <p:cNvPr id="112" name="Google Shape;112;p3">
            <a:extLst>
              <a:ext uri="{FF2B5EF4-FFF2-40B4-BE49-F238E27FC236}">
                <a16:creationId xmlns:a16="http://schemas.microsoft.com/office/drawing/2014/main" id="{13276DB2-1DF3-8F9B-3B52-1BA74A8E1F28}"/>
              </a:ext>
            </a:extLst>
          </p:cNvPr>
          <p:cNvSpPr txBox="1">
            <a:spLocks noGrp="1"/>
          </p:cNvSpPr>
          <p:nvPr>
            <p:ph type="body" idx="4294967295"/>
          </p:nvPr>
        </p:nvSpPr>
        <p:spPr>
          <a:xfrm>
            <a:off x="370719" y="2660952"/>
            <a:ext cx="4680966" cy="3553581"/>
          </a:xfrm>
        </p:spPr>
        <p:txBody>
          <a:bodyPr spcFirstLastPara="1" vert="horz" lIns="91440" tIns="45720" rIns="91440" bIns="45720" rtlCol="0" anchorCtr="0">
            <a:normAutofit/>
          </a:bodyPr>
          <a:lstStyle/>
          <a:p>
            <a:pPr marL="0" lvl="0" indent="-228600">
              <a:spcBef>
                <a:spcPts val="0"/>
              </a:spcBef>
              <a:spcAft>
                <a:spcPts val="600"/>
              </a:spcAft>
              <a:buClr>
                <a:srgbClr val="000000"/>
              </a:buClr>
              <a:buSzPts val="2800"/>
              <a:buFont typeface="Arial" panose="020B0604020202020204" pitchFamily="34" charset="0"/>
              <a:buChar char="•"/>
            </a:pPr>
            <a:r>
              <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rPr>
              <a:t>Here, </a:t>
            </a:r>
          </a:p>
          <a:p>
            <a:pPr indent="-228600">
              <a:spcBef>
                <a:spcPts val="0"/>
              </a:spcBef>
              <a:spcAft>
                <a:spcPts val="600"/>
              </a:spcAft>
              <a:buClr>
                <a:srgbClr val="000000"/>
              </a:buClr>
              <a:buFont typeface="Arial" panose="020B0604020202020204" pitchFamily="34" charset="0"/>
              <a:buChar char="•"/>
            </a:pPr>
            <a:r>
              <a:rPr lang="en-US" sz="1600" b="0" i="0" u="none" strike="noStrike" kern="1200" cap="none" dirty="0">
                <a:solidFill>
                  <a:schemeClr val="tx1"/>
                </a:solidFill>
                <a:latin typeface="Times New Roman" panose="02020603050405020304" pitchFamily="18" charset="0"/>
                <a:ea typeface="+mn-ea"/>
                <a:cs typeface="Times New Roman" panose="02020603050405020304" pitchFamily="18" charset="0"/>
              </a:rPr>
              <a:t>The odd Participants – Bachelor students</a:t>
            </a:r>
          </a:p>
          <a:p>
            <a:pPr indent="-228600">
              <a:spcBef>
                <a:spcPts val="0"/>
              </a:spcBef>
              <a:spcAft>
                <a:spcPts val="600"/>
              </a:spcAft>
              <a:buClr>
                <a:srgbClr val="000000"/>
              </a:buClr>
              <a:buFont typeface="Arial" panose="020B0604020202020204" pitchFamily="34" charset="0"/>
              <a:buChar char="•"/>
            </a:pPr>
            <a:r>
              <a:rPr lang="en-US" sz="1600" b="0" i="0" u="none" strike="noStrike" kern="1200" cap="none" dirty="0">
                <a:solidFill>
                  <a:schemeClr val="tx1"/>
                </a:solidFill>
                <a:latin typeface="Times New Roman" panose="02020603050405020304" pitchFamily="18" charset="0"/>
                <a:ea typeface="+mn-ea"/>
                <a:cs typeface="Times New Roman" panose="02020603050405020304" pitchFamily="18" charset="0"/>
              </a:rPr>
              <a:t>The even Participants – Masters students</a:t>
            </a:r>
          </a:p>
          <a:p>
            <a:pPr marL="0" indent="0">
              <a:spcBef>
                <a:spcPts val="0"/>
              </a:spcBef>
              <a:spcAft>
                <a:spcPts val="600"/>
              </a:spcAft>
              <a:buClr>
                <a:srgbClr val="000000"/>
              </a:buClr>
              <a:buNone/>
            </a:pPr>
            <a:endPar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endParaRPr>
          </a:p>
          <a:p>
            <a:pPr marL="0" indent="-228600">
              <a:spcBef>
                <a:spcPts val="0"/>
              </a:spcBef>
              <a:spcAft>
                <a:spcPts val="600"/>
              </a:spcAft>
              <a:buClr>
                <a:srgbClr val="000000"/>
              </a:buClr>
              <a:buFont typeface="Arial" panose="020B0604020202020204" pitchFamily="34" charset="0"/>
              <a:buChar char="•"/>
            </a:pPr>
            <a:r>
              <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rPr>
              <a:t>We can see that in incongruent and neutral conditions master student showed less </a:t>
            </a:r>
            <a:r>
              <a:rPr lang="en-US" sz="2000" b="0" i="0" u="none" strike="noStrike" kern="1200" cap="none" dirty="0" err="1">
                <a:solidFill>
                  <a:schemeClr val="tx1"/>
                </a:solidFill>
                <a:latin typeface="Times New Roman" panose="02020603050405020304" pitchFamily="18" charset="0"/>
                <a:ea typeface="+mn-ea"/>
                <a:cs typeface="Times New Roman" panose="02020603050405020304" pitchFamily="18" charset="0"/>
              </a:rPr>
              <a:t>stroop</a:t>
            </a:r>
            <a:r>
              <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rPr>
              <a:t> effect than bachelor students. </a:t>
            </a:r>
          </a:p>
        </p:txBody>
      </p:sp>
      <p:pic>
        <p:nvPicPr>
          <p:cNvPr id="3" name="Picture 2" descr="A graph of different colored boxes&#10;&#10;AI-generated content may be incorrect.">
            <a:extLst>
              <a:ext uri="{FF2B5EF4-FFF2-40B4-BE49-F238E27FC236}">
                <a16:creationId xmlns:a16="http://schemas.microsoft.com/office/drawing/2014/main" id="{99527E4E-1BC7-0A9C-4A27-B6673602C1D1}"/>
              </a:ext>
            </a:extLst>
          </p:cNvPr>
          <p:cNvPicPr>
            <a:picLocks noChangeAspect="1"/>
          </p:cNvPicPr>
          <p:nvPr/>
        </p:nvPicPr>
        <p:blipFill>
          <a:blip r:embed="rId3"/>
          <a:srcRect l="-2557" r="-3" b="-3"/>
          <a:stretch>
            <a:fillRect/>
          </a:stretch>
        </p:blipFill>
        <p:spPr>
          <a:xfrm>
            <a:off x="4775322" y="1224116"/>
            <a:ext cx="7286724" cy="4748981"/>
          </a:xfrm>
          <a:prstGeom prst="rect">
            <a:avLst/>
          </a:prstGeom>
          <a:noFill/>
        </p:spPr>
      </p:pic>
    </p:spTree>
    <p:extLst>
      <p:ext uri="{BB962C8B-B14F-4D97-AF65-F5344CB8AC3E}">
        <p14:creationId xmlns:p14="http://schemas.microsoft.com/office/powerpoint/2010/main" val="3911975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28D89CC5-092E-9BC0-C586-7784D6370CAF}"/>
            </a:ext>
          </a:extLst>
        </p:cNvPr>
        <p:cNvGrpSpPr/>
        <p:nvPr/>
      </p:nvGrpSpPr>
      <p:grpSpPr>
        <a:xfrm>
          <a:off x="0" y="0"/>
          <a:ext cx="0" cy="0"/>
          <a:chOff x="0" y="0"/>
          <a:chExt cx="0" cy="0"/>
        </a:xfrm>
      </p:grpSpPr>
      <p:sp useBgFill="1">
        <p:nvSpPr>
          <p:cNvPr id="117" name="Rectangle 116">
            <a:extLst>
              <a:ext uri="{FF2B5EF4-FFF2-40B4-BE49-F238E27FC236}">
                <a16:creationId xmlns:a16="http://schemas.microsoft.com/office/drawing/2014/main" id="{2D418EFD-B6BA-C756-FFF1-FE1DC50C08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Shape 118">
            <a:extLst>
              <a:ext uri="{FF2B5EF4-FFF2-40B4-BE49-F238E27FC236}">
                <a16:creationId xmlns:a16="http://schemas.microsoft.com/office/drawing/2014/main" id="{F69E6553-0E97-1136-E8B3-C7E15552EA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111" name="Google Shape;111;p3">
            <a:extLst>
              <a:ext uri="{FF2B5EF4-FFF2-40B4-BE49-F238E27FC236}">
                <a16:creationId xmlns:a16="http://schemas.microsoft.com/office/drawing/2014/main" id="{B88F11BA-7C3F-8618-BFD8-95363D2C6CA8}"/>
              </a:ext>
            </a:extLst>
          </p:cNvPr>
          <p:cNvSpPr txBox="1">
            <a:spLocks noGrp="1"/>
          </p:cNvSpPr>
          <p:nvPr>
            <p:ph type="title"/>
          </p:nvPr>
        </p:nvSpPr>
        <p:spPr>
          <a:xfrm>
            <a:off x="370719" y="232065"/>
            <a:ext cx="3888526" cy="1800526"/>
          </a:xfrm>
        </p:spPr>
        <p:txBody>
          <a:bodyPr spcFirstLastPara="1" vert="horz" lIns="91440" tIns="45720" rIns="91440" bIns="45720" rtlCol="0" anchor="ctr" anchorCtr="0">
            <a:normAutofit/>
          </a:bodyPr>
          <a:lstStyle/>
          <a:p>
            <a:pPr indent="-457200">
              <a:spcBef>
                <a:spcPct val="0"/>
              </a:spcBef>
            </a:pPr>
            <a:r>
              <a:rPr lang="en-US" sz="3700" kern="1200" dirty="0">
                <a:solidFill>
                  <a:schemeClr val="tx1"/>
                </a:solidFill>
                <a:latin typeface="+mj-lt"/>
                <a:ea typeface="+mj-ea"/>
                <a:cs typeface="+mj-cs"/>
              </a:rPr>
              <a:t>Part: 2 - Odd vs Even Participant split data</a:t>
            </a:r>
          </a:p>
        </p:txBody>
      </p:sp>
      <p:sp>
        <p:nvSpPr>
          <p:cNvPr id="112" name="Google Shape;112;p3">
            <a:extLst>
              <a:ext uri="{FF2B5EF4-FFF2-40B4-BE49-F238E27FC236}">
                <a16:creationId xmlns:a16="http://schemas.microsoft.com/office/drawing/2014/main" id="{C65BAED4-8911-A684-B682-9F06553C4E42}"/>
              </a:ext>
            </a:extLst>
          </p:cNvPr>
          <p:cNvSpPr txBox="1">
            <a:spLocks noGrp="1"/>
          </p:cNvSpPr>
          <p:nvPr>
            <p:ph type="body" idx="4294967295"/>
          </p:nvPr>
        </p:nvSpPr>
        <p:spPr>
          <a:xfrm>
            <a:off x="370719" y="2660952"/>
            <a:ext cx="4680966" cy="3553581"/>
          </a:xfrm>
        </p:spPr>
        <p:txBody>
          <a:bodyPr spcFirstLastPara="1" vert="horz" lIns="91440" tIns="45720" rIns="91440" bIns="45720" rtlCol="0" anchorCtr="0">
            <a:normAutofit/>
          </a:bodyPr>
          <a:lstStyle/>
          <a:p>
            <a:pPr marL="0" lvl="0" indent="-228600">
              <a:spcBef>
                <a:spcPts val="0"/>
              </a:spcBef>
              <a:spcAft>
                <a:spcPts val="600"/>
              </a:spcAft>
              <a:buClr>
                <a:srgbClr val="000000"/>
              </a:buClr>
              <a:buSzPts val="2800"/>
              <a:buFont typeface="Arial" panose="020B0604020202020204" pitchFamily="34" charset="0"/>
              <a:buChar char="•"/>
            </a:pPr>
            <a:r>
              <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rPr>
              <a:t>Here, </a:t>
            </a:r>
          </a:p>
          <a:p>
            <a:pPr indent="-228600">
              <a:spcBef>
                <a:spcPts val="0"/>
              </a:spcBef>
              <a:spcAft>
                <a:spcPts val="600"/>
              </a:spcAft>
              <a:buClr>
                <a:srgbClr val="000000"/>
              </a:buClr>
              <a:buFont typeface="Arial" panose="020B0604020202020204" pitchFamily="34" charset="0"/>
              <a:buChar char="•"/>
            </a:pPr>
            <a:r>
              <a:rPr lang="en-US" sz="1600" b="0" i="0" u="none" strike="noStrike" kern="1200" cap="none" dirty="0">
                <a:solidFill>
                  <a:schemeClr val="tx1"/>
                </a:solidFill>
                <a:latin typeface="Times New Roman" panose="02020603050405020304" pitchFamily="18" charset="0"/>
                <a:ea typeface="+mn-ea"/>
                <a:cs typeface="Times New Roman" panose="02020603050405020304" pitchFamily="18" charset="0"/>
              </a:rPr>
              <a:t>The odd Participants – Bachelor students</a:t>
            </a:r>
          </a:p>
          <a:p>
            <a:pPr indent="-228600">
              <a:spcBef>
                <a:spcPts val="0"/>
              </a:spcBef>
              <a:spcAft>
                <a:spcPts val="600"/>
              </a:spcAft>
              <a:buClr>
                <a:srgbClr val="000000"/>
              </a:buClr>
              <a:buFont typeface="Arial" panose="020B0604020202020204" pitchFamily="34" charset="0"/>
              <a:buChar char="•"/>
            </a:pPr>
            <a:r>
              <a:rPr lang="en-US" sz="1600" b="0" i="0" u="none" strike="noStrike" kern="1200" cap="none" dirty="0">
                <a:solidFill>
                  <a:schemeClr val="tx1"/>
                </a:solidFill>
                <a:latin typeface="Times New Roman" panose="02020603050405020304" pitchFamily="18" charset="0"/>
                <a:ea typeface="+mn-ea"/>
                <a:cs typeface="Times New Roman" panose="02020603050405020304" pitchFamily="18" charset="0"/>
              </a:rPr>
              <a:t>The even Participants – Masters students</a:t>
            </a:r>
          </a:p>
          <a:p>
            <a:pPr marL="0" indent="0">
              <a:spcBef>
                <a:spcPts val="0"/>
              </a:spcBef>
              <a:spcAft>
                <a:spcPts val="600"/>
              </a:spcAft>
              <a:buClr>
                <a:srgbClr val="000000"/>
              </a:buClr>
              <a:buNone/>
            </a:pPr>
            <a:endPar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endParaRPr>
          </a:p>
          <a:p>
            <a:pPr marL="0" indent="-228600">
              <a:spcBef>
                <a:spcPts val="0"/>
              </a:spcBef>
              <a:spcAft>
                <a:spcPts val="600"/>
              </a:spcAft>
              <a:buClr>
                <a:srgbClr val="000000"/>
              </a:buClr>
              <a:buFont typeface="Arial" panose="020B0604020202020204" pitchFamily="34" charset="0"/>
              <a:buChar char="•"/>
            </a:pPr>
            <a:r>
              <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rPr>
              <a:t>We can see that in incongruent and neutral conditions master student showed less </a:t>
            </a:r>
            <a:r>
              <a:rPr lang="en-US" sz="2000" b="0" i="0" u="none" strike="noStrike" kern="1200" cap="none" dirty="0" err="1">
                <a:solidFill>
                  <a:schemeClr val="tx1"/>
                </a:solidFill>
                <a:latin typeface="Times New Roman" panose="02020603050405020304" pitchFamily="18" charset="0"/>
                <a:ea typeface="+mn-ea"/>
                <a:cs typeface="Times New Roman" panose="02020603050405020304" pitchFamily="18" charset="0"/>
              </a:rPr>
              <a:t>stroop</a:t>
            </a:r>
            <a:r>
              <a:rPr lang="en-US" sz="2000" b="0" i="0" u="none" strike="noStrike" kern="1200" cap="none" dirty="0">
                <a:solidFill>
                  <a:schemeClr val="tx1"/>
                </a:solidFill>
                <a:latin typeface="Times New Roman" panose="02020603050405020304" pitchFamily="18" charset="0"/>
                <a:ea typeface="+mn-ea"/>
                <a:cs typeface="Times New Roman" panose="02020603050405020304" pitchFamily="18" charset="0"/>
              </a:rPr>
              <a:t> effect than bachelor students. </a:t>
            </a:r>
          </a:p>
        </p:txBody>
      </p:sp>
      <p:pic>
        <p:nvPicPr>
          <p:cNvPr id="4" name="Picture 3" descr="A graph of different colored boxes&#10;&#10;AI-generated content may be incorrect.">
            <a:extLst>
              <a:ext uri="{FF2B5EF4-FFF2-40B4-BE49-F238E27FC236}">
                <a16:creationId xmlns:a16="http://schemas.microsoft.com/office/drawing/2014/main" id="{EEED737C-A35B-D25E-F34A-61A8E3B35EEB}"/>
              </a:ext>
            </a:extLst>
          </p:cNvPr>
          <p:cNvPicPr>
            <a:picLocks noChangeAspect="1"/>
          </p:cNvPicPr>
          <p:nvPr/>
        </p:nvPicPr>
        <p:blipFill>
          <a:blip r:embed="rId3"/>
          <a:stretch>
            <a:fillRect/>
          </a:stretch>
        </p:blipFill>
        <p:spPr>
          <a:xfrm>
            <a:off x="5051685" y="854935"/>
            <a:ext cx="6769596" cy="5359598"/>
          </a:xfrm>
          <a:prstGeom prst="rect">
            <a:avLst/>
          </a:prstGeom>
        </p:spPr>
      </p:pic>
    </p:spTree>
    <p:extLst>
      <p:ext uri="{BB962C8B-B14F-4D97-AF65-F5344CB8AC3E}">
        <p14:creationId xmlns:p14="http://schemas.microsoft.com/office/powerpoint/2010/main" val="739260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a:extLst>
            <a:ext uri="{FF2B5EF4-FFF2-40B4-BE49-F238E27FC236}">
              <a16:creationId xmlns:a16="http://schemas.microsoft.com/office/drawing/2014/main" id="{C5CAFABC-67E6-FEB2-2BAC-DED578F44AB4}"/>
            </a:ext>
          </a:extLst>
        </p:cNvPr>
        <p:cNvGrpSpPr/>
        <p:nvPr/>
      </p:nvGrpSpPr>
      <p:grpSpPr>
        <a:xfrm>
          <a:off x="0" y="0"/>
          <a:ext cx="0" cy="0"/>
          <a:chOff x="0" y="0"/>
          <a:chExt cx="0" cy="0"/>
        </a:xfrm>
      </p:grpSpPr>
      <p:sp useBgFill="1">
        <p:nvSpPr>
          <p:cNvPr id="134" name="Rectangle 133">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Google Shape;111;p3">
            <a:extLst>
              <a:ext uri="{FF2B5EF4-FFF2-40B4-BE49-F238E27FC236}">
                <a16:creationId xmlns:a16="http://schemas.microsoft.com/office/drawing/2014/main" id="{769B2364-43DA-8FEC-8583-F5B2EF9B5FF8}"/>
              </a:ext>
            </a:extLst>
          </p:cNvPr>
          <p:cNvSpPr txBox="1">
            <a:spLocks noGrp="1"/>
          </p:cNvSpPr>
          <p:nvPr>
            <p:ph type="title"/>
          </p:nvPr>
        </p:nvSpPr>
        <p:spPr>
          <a:xfrm>
            <a:off x="419100" y="565661"/>
            <a:ext cx="4391025" cy="1323439"/>
          </a:xfrm>
        </p:spPr>
        <p:txBody>
          <a:bodyPr spcFirstLastPara="1" vert="horz" lIns="91440" tIns="45720" rIns="91440" bIns="45720" rtlCol="0" anchor="t" anchorCtr="0">
            <a:normAutofit/>
          </a:bodyPr>
          <a:lstStyle/>
          <a:p>
            <a:pPr indent="-457200">
              <a:spcBef>
                <a:spcPct val="0"/>
              </a:spcBef>
            </a:pPr>
            <a:r>
              <a:rPr lang="en-US" sz="3400" kern="1200" dirty="0">
                <a:solidFill>
                  <a:schemeClr val="bg1"/>
                </a:solidFill>
                <a:latin typeface="+mj-lt"/>
                <a:ea typeface="+mj-ea"/>
                <a:cs typeface="+mj-cs"/>
              </a:rPr>
              <a:t>Part: 2 - Odd vs Even Participant split data</a:t>
            </a:r>
          </a:p>
        </p:txBody>
      </p:sp>
      <p:sp>
        <p:nvSpPr>
          <p:cNvPr id="112" name="Google Shape;112;p3">
            <a:extLst>
              <a:ext uri="{FF2B5EF4-FFF2-40B4-BE49-F238E27FC236}">
                <a16:creationId xmlns:a16="http://schemas.microsoft.com/office/drawing/2014/main" id="{73BCB2E0-E498-F1C3-234E-F1FFF1AE9975}"/>
              </a:ext>
            </a:extLst>
          </p:cNvPr>
          <p:cNvSpPr txBox="1">
            <a:spLocks noGrp="1"/>
          </p:cNvSpPr>
          <p:nvPr>
            <p:ph type="body" idx="4294967295"/>
          </p:nvPr>
        </p:nvSpPr>
        <p:spPr>
          <a:xfrm>
            <a:off x="419100" y="2336931"/>
            <a:ext cx="4391025" cy="2454300"/>
          </a:xfrm>
        </p:spPr>
        <p:txBody>
          <a:bodyPr spcFirstLastPara="1" vert="horz" lIns="91440" tIns="45720" rIns="91440" bIns="45720" rtlCol="0" anchorCtr="0">
            <a:normAutofit/>
          </a:bodyPr>
          <a:lstStyle/>
          <a:p>
            <a:pPr marL="0" lvl="0" indent="-228600">
              <a:spcBef>
                <a:spcPts val="0"/>
              </a:spcBef>
              <a:spcAft>
                <a:spcPts val="600"/>
              </a:spcAft>
              <a:buClr>
                <a:srgbClr val="000000"/>
              </a:buClr>
              <a:buSzPts val="2800"/>
              <a:buFont typeface="Arial" panose="020B0604020202020204" pitchFamily="34" charset="0"/>
              <a:buChar char="•"/>
            </a:pPr>
            <a:r>
              <a:rPr lang="en-US" sz="1700" b="0" i="0" u="none" strike="noStrike" kern="1200" cap="none" dirty="0">
                <a:solidFill>
                  <a:schemeClr val="bg1">
                    <a:alpha val="80000"/>
                  </a:schemeClr>
                </a:solidFill>
                <a:latin typeface="+mn-lt"/>
                <a:ea typeface="+mn-ea"/>
                <a:cs typeface="+mn-cs"/>
              </a:rPr>
              <a:t>Here, </a:t>
            </a:r>
          </a:p>
          <a:p>
            <a:pPr indent="-228600">
              <a:spcBef>
                <a:spcPts val="0"/>
              </a:spcBef>
              <a:spcAft>
                <a:spcPts val="600"/>
              </a:spcAft>
              <a:buClr>
                <a:srgbClr val="000000"/>
              </a:buClr>
              <a:buFont typeface="Arial" panose="020B0604020202020204" pitchFamily="34" charset="0"/>
              <a:buChar char="•"/>
            </a:pPr>
            <a:r>
              <a:rPr lang="en-US" sz="1700" b="0" i="0" u="none" strike="noStrike" kern="1200" cap="none" dirty="0">
                <a:solidFill>
                  <a:schemeClr val="bg1">
                    <a:alpha val="80000"/>
                  </a:schemeClr>
                </a:solidFill>
                <a:latin typeface="+mn-lt"/>
                <a:ea typeface="+mn-ea"/>
                <a:cs typeface="+mn-cs"/>
              </a:rPr>
              <a:t>The odd Participants – Bachelor students</a:t>
            </a:r>
          </a:p>
          <a:p>
            <a:pPr indent="-228600">
              <a:spcBef>
                <a:spcPts val="0"/>
              </a:spcBef>
              <a:spcAft>
                <a:spcPts val="600"/>
              </a:spcAft>
              <a:buClr>
                <a:srgbClr val="000000"/>
              </a:buClr>
              <a:buFont typeface="Arial" panose="020B0604020202020204" pitchFamily="34" charset="0"/>
              <a:buChar char="•"/>
            </a:pPr>
            <a:r>
              <a:rPr lang="en-US" sz="1700" b="0" i="0" u="none" strike="noStrike" kern="1200" cap="none" dirty="0">
                <a:solidFill>
                  <a:schemeClr val="bg1">
                    <a:alpha val="80000"/>
                  </a:schemeClr>
                </a:solidFill>
                <a:latin typeface="+mn-lt"/>
                <a:ea typeface="+mn-ea"/>
                <a:cs typeface="+mn-cs"/>
              </a:rPr>
              <a:t>The even Participants – Masters students</a:t>
            </a:r>
          </a:p>
          <a:p>
            <a:pPr marL="0" indent="-228600">
              <a:spcBef>
                <a:spcPts val="0"/>
              </a:spcBef>
              <a:spcAft>
                <a:spcPts val="600"/>
              </a:spcAft>
              <a:buClr>
                <a:srgbClr val="000000"/>
              </a:buClr>
              <a:buFont typeface="Arial" panose="020B0604020202020204" pitchFamily="34" charset="0"/>
              <a:buChar char="•"/>
            </a:pPr>
            <a:endParaRPr lang="en-US" sz="1700" b="0" i="0" u="none" strike="noStrike" kern="1200" cap="none" dirty="0">
              <a:solidFill>
                <a:schemeClr val="bg1">
                  <a:alpha val="80000"/>
                </a:schemeClr>
              </a:solidFill>
              <a:latin typeface="+mn-lt"/>
              <a:ea typeface="+mn-ea"/>
              <a:cs typeface="+mn-cs"/>
            </a:endParaRPr>
          </a:p>
          <a:p>
            <a:pPr marL="0" indent="-228600">
              <a:spcBef>
                <a:spcPts val="0"/>
              </a:spcBef>
              <a:spcAft>
                <a:spcPts val="600"/>
              </a:spcAft>
              <a:buClr>
                <a:srgbClr val="000000"/>
              </a:buClr>
              <a:buFont typeface="Arial" panose="020B0604020202020204" pitchFamily="34" charset="0"/>
              <a:buChar char="•"/>
            </a:pPr>
            <a:r>
              <a:rPr lang="en-US" sz="1700" kern="1200" dirty="0">
                <a:solidFill>
                  <a:schemeClr val="bg1">
                    <a:alpha val="80000"/>
                  </a:schemeClr>
                </a:solidFill>
                <a:latin typeface="+mn-lt"/>
                <a:ea typeface="+mn-ea"/>
                <a:cs typeface="+mn-cs"/>
              </a:rPr>
              <a:t>I did it with MATPLOTLIB, and put it here just the color looked nice.</a:t>
            </a:r>
            <a:endParaRPr lang="en-US" sz="1700" b="0" i="0" u="none" strike="noStrike" kern="1200" cap="none" dirty="0">
              <a:solidFill>
                <a:schemeClr val="bg1">
                  <a:alpha val="80000"/>
                </a:schemeClr>
              </a:solidFill>
              <a:latin typeface="+mn-lt"/>
              <a:ea typeface="+mn-ea"/>
              <a:cs typeface="+mn-cs"/>
            </a:endParaRPr>
          </a:p>
        </p:txBody>
      </p:sp>
      <p:pic>
        <p:nvPicPr>
          <p:cNvPr id="3" name="Picture 2" descr="A diagram of different colored squares&#10;&#10;AI-generated content may be incorrect.">
            <a:extLst>
              <a:ext uri="{FF2B5EF4-FFF2-40B4-BE49-F238E27FC236}">
                <a16:creationId xmlns:a16="http://schemas.microsoft.com/office/drawing/2014/main" id="{9FE36260-88DA-5D03-4F6C-80A451F0F29A}"/>
              </a:ext>
            </a:extLst>
          </p:cNvPr>
          <p:cNvPicPr>
            <a:picLocks noChangeAspect="1"/>
          </p:cNvPicPr>
          <p:nvPr/>
        </p:nvPicPr>
        <p:blipFill>
          <a:blip r:embed="rId3"/>
          <a:stretch>
            <a:fillRect/>
          </a:stretch>
        </p:blipFill>
        <p:spPr>
          <a:xfrm>
            <a:off x="5229225" y="1075065"/>
            <a:ext cx="6779978" cy="4525635"/>
          </a:xfrm>
          <a:prstGeom prst="rect">
            <a:avLst/>
          </a:prstGeom>
        </p:spPr>
      </p:pic>
    </p:spTree>
    <p:extLst>
      <p:ext uri="{BB962C8B-B14F-4D97-AF65-F5344CB8AC3E}">
        <p14:creationId xmlns:p14="http://schemas.microsoft.com/office/powerpoint/2010/main" val="2618647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E6CF53BA-66B4-141F-CCF7-6926C7658A28}"/>
            </a:ext>
          </a:extLst>
        </p:cNvPr>
        <p:cNvGrpSpPr/>
        <p:nvPr/>
      </p:nvGrpSpPr>
      <p:grpSpPr>
        <a:xfrm>
          <a:off x="0" y="0"/>
          <a:ext cx="0" cy="0"/>
          <a:chOff x="0" y="0"/>
          <a:chExt cx="0" cy="0"/>
        </a:xfrm>
      </p:grpSpPr>
      <p:sp>
        <p:nvSpPr>
          <p:cNvPr id="111" name="Google Shape;111;p3">
            <a:extLst>
              <a:ext uri="{FF2B5EF4-FFF2-40B4-BE49-F238E27FC236}">
                <a16:creationId xmlns:a16="http://schemas.microsoft.com/office/drawing/2014/main" id="{011EC395-B213-0CCA-632A-27C0CD0905EA}"/>
              </a:ext>
            </a:extLst>
          </p:cNvPr>
          <p:cNvSpPr txBox="1">
            <a:spLocks noGrp="1"/>
          </p:cNvSpPr>
          <p:nvPr>
            <p:ph type="title"/>
          </p:nvPr>
        </p:nvSpPr>
        <p:spPr>
          <a:xfrm>
            <a:off x="456000" y="1160463"/>
            <a:ext cx="11736000" cy="1188000"/>
          </a:xfrm>
          <a:prstGeom prst="rect">
            <a:avLst/>
          </a:prstGeom>
          <a:noFill/>
          <a:ln>
            <a:noFill/>
          </a:ln>
        </p:spPr>
        <p:txBody>
          <a:bodyPr spcFirstLastPara="1" wrap="square" lIns="91425" tIns="45700" rIns="91425" bIns="45700" anchor="ctr" anchorCtr="0">
            <a:normAutofit/>
          </a:bodyPr>
          <a:lstStyle/>
          <a:p>
            <a:pPr indent="-457200"/>
            <a:r>
              <a:rPr lang="en-US" dirty="0">
                <a:latin typeface="Times New Roman" panose="02020603050405020304" pitchFamily="18" charset="0"/>
                <a:cs typeface="Times New Roman" panose="02020603050405020304" pitchFamily="18" charset="0"/>
              </a:rPr>
              <a:t>Part: 3 - Pooled group level Visualization</a:t>
            </a:r>
          </a:p>
        </p:txBody>
      </p:sp>
      <p:sp>
        <p:nvSpPr>
          <p:cNvPr id="112" name="Google Shape;112;p3">
            <a:extLst>
              <a:ext uri="{FF2B5EF4-FFF2-40B4-BE49-F238E27FC236}">
                <a16:creationId xmlns:a16="http://schemas.microsoft.com/office/drawing/2014/main" id="{A735EB89-5D14-FD2D-4884-D2DC6E3AF42F}"/>
              </a:ext>
            </a:extLst>
          </p:cNvPr>
          <p:cNvSpPr txBox="1">
            <a:spLocks noGrp="1"/>
          </p:cNvSpPr>
          <p:nvPr>
            <p:ph type="body" idx="4294967295"/>
          </p:nvPr>
        </p:nvSpPr>
        <p:spPr>
          <a:xfrm>
            <a:off x="456000" y="3245226"/>
            <a:ext cx="3666295" cy="2452311"/>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1000"/>
              </a:spcBef>
              <a:spcAft>
                <a:spcPts val="0"/>
              </a:spcAft>
              <a:buClr>
                <a:schemeClr val="dk1"/>
              </a:buClr>
              <a:buSzPts val="2800"/>
              <a:buNone/>
            </a:pPr>
            <a:r>
              <a:rPr lang="en-US" dirty="0">
                <a:latin typeface="Times New Roman" panose="02020603050405020304" pitchFamily="18" charset="0"/>
                <a:cs typeface="Times New Roman" panose="02020603050405020304" pitchFamily="18" charset="0"/>
              </a:rPr>
              <a:t>Here, I have used the same MATLAB script and used all the dataset into one figure. </a:t>
            </a:r>
            <a:endParaRPr dirty="0">
              <a:latin typeface="Times New Roman" panose="02020603050405020304" pitchFamily="18" charset="0"/>
              <a:cs typeface="Times New Roman" panose="02020603050405020304" pitchFamily="18" charset="0"/>
            </a:endParaRPr>
          </a:p>
        </p:txBody>
      </p:sp>
      <p:pic>
        <p:nvPicPr>
          <p:cNvPr id="8" name="Picture 7" descr="A screenshot of a computer&#10;&#10;AI-generated content may be incorrect.">
            <a:extLst>
              <a:ext uri="{FF2B5EF4-FFF2-40B4-BE49-F238E27FC236}">
                <a16:creationId xmlns:a16="http://schemas.microsoft.com/office/drawing/2014/main" id="{CB5C12B7-80E6-9CA7-B73E-1B61F74F41A7}"/>
              </a:ext>
            </a:extLst>
          </p:cNvPr>
          <p:cNvPicPr>
            <a:picLocks noChangeAspect="1"/>
          </p:cNvPicPr>
          <p:nvPr/>
        </p:nvPicPr>
        <p:blipFill>
          <a:blip r:embed="rId3"/>
          <a:stretch>
            <a:fillRect/>
          </a:stretch>
        </p:blipFill>
        <p:spPr>
          <a:xfrm>
            <a:off x="4568667" y="2348463"/>
            <a:ext cx="6988750" cy="3929253"/>
          </a:xfrm>
          <a:prstGeom prst="rect">
            <a:avLst/>
          </a:prstGeom>
        </p:spPr>
      </p:pic>
    </p:spTree>
    <p:extLst>
      <p:ext uri="{BB962C8B-B14F-4D97-AF65-F5344CB8AC3E}">
        <p14:creationId xmlns:p14="http://schemas.microsoft.com/office/powerpoint/2010/main" val="3604130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27B5F623-AF9F-34AC-7DB2-6CE207ABCAC1}"/>
            </a:ext>
          </a:extLst>
        </p:cNvPr>
        <p:cNvGrpSpPr/>
        <p:nvPr/>
      </p:nvGrpSpPr>
      <p:grpSpPr>
        <a:xfrm>
          <a:off x="0" y="0"/>
          <a:ext cx="0" cy="0"/>
          <a:chOff x="0" y="0"/>
          <a:chExt cx="0" cy="0"/>
        </a:xfrm>
      </p:grpSpPr>
      <p:sp>
        <p:nvSpPr>
          <p:cNvPr id="111" name="Google Shape;111;p3">
            <a:extLst>
              <a:ext uri="{FF2B5EF4-FFF2-40B4-BE49-F238E27FC236}">
                <a16:creationId xmlns:a16="http://schemas.microsoft.com/office/drawing/2014/main" id="{B96A3746-BE50-4E1D-B073-0F4D160D887A}"/>
              </a:ext>
            </a:extLst>
          </p:cNvPr>
          <p:cNvSpPr txBox="1">
            <a:spLocks noGrp="1"/>
          </p:cNvSpPr>
          <p:nvPr>
            <p:ph type="title"/>
          </p:nvPr>
        </p:nvSpPr>
        <p:spPr>
          <a:xfrm>
            <a:off x="456000" y="1160463"/>
            <a:ext cx="11736000" cy="1188000"/>
          </a:xfrm>
          <a:prstGeom prst="rect">
            <a:avLst/>
          </a:prstGeom>
          <a:noFill/>
          <a:ln>
            <a:noFill/>
          </a:ln>
        </p:spPr>
        <p:txBody>
          <a:bodyPr spcFirstLastPara="1" wrap="square" lIns="91425" tIns="45700" rIns="91425" bIns="45700" anchor="ctr" anchorCtr="0">
            <a:normAutofit/>
          </a:bodyPr>
          <a:lstStyle/>
          <a:p>
            <a:pPr indent="-457200"/>
            <a:r>
              <a:rPr lang="en-US" dirty="0">
                <a:latin typeface="Times New Roman" panose="02020603050405020304" pitchFamily="18" charset="0"/>
                <a:cs typeface="Times New Roman" panose="02020603050405020304" pitchFamily="18" charset="0"/>
              </a:rPr>
              <a:t>Part: 3 - Pooled group level Visualization</a:t>
            </a:r>
          </a:p>
        </p:txBody>
      </p:sp>
      <p:sp>
        <p:nvSpPr>
          <p:cNvPr id="112" name="Google Shape;112;p3">
            <a:extLst>
              <a:ext uri="{FF2B5EF4-FFF2-40B4-BE49-F238E27FC236}">
                <a16:creationId xmlns:a16="http://schemas.microsoft.com/office/drawing/2014/main" id="{547FE2FB-B287-5FDD-2691-C5E210891048}"/>
              </a:ext>
            </a:extLst>
          </p:cNvPr>
          <p:cNvSpPr txBox="1">
            <a:spLocks noGrp="1"/>
          </p:cNvSpPr>
          <p:nvPr>
            <p:ph type="body" idx="4294967295"/>
          </p:nvPr>
        </p:nvSpPr>
        <p:spPr>
          <a:xfrm>
            <a:off x="456000" y="3245226"/>
            <a:ext cx="4364161" cy="2452311"/>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1000"/>
              </a:spcBef>
              <a:spcAft>
                <a:spcPts val="0"/>
              </a:spcAft>
              <a:buClr>
                <a:schemeClr val="dk1"/>
              </a:buClr>
              <a:buSzPts val="2800"/>
              <a:buNone/>
            </a:pPr>
            <a:r>
              <a:rPr lang="en-US" dirty="0">
                <a:latin typeface="Times New Roman" panose="02020603050405020304" pitchFamily="18" charset="0"/>
                <a:cs typeface="Times New Roman" panose="02020603050405020304" pitchFamily="18" charset="0"/>
              </a:rPr>
              <a:t>Here, we can see all on average in all datasets incongruent reaction time was higher, thus </a:t>
            </a:r>
            <a:r>
              <a:rPr lang="en-US" dirty="0" err="1">
                <a:latin typeface="Times New Roman" panose="02020603050405020304" pitchFamily="18" charset="0"/>
                <a:cs typeface="Times New Roman" panose="02020603050405020304" pitchFamily="18" charset="0"/>
              </a:rPr>
              <a:t>explaning</a:t>
            </a: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stroop</a:t>
            </a:r>
            <a:r>
              <a:rPr lang="en-US" dirty="0">
                <a:latin typeface="Times New Roman" panose="02020603050405020304" pitchFamily="18" charset="0"/>
                <a:cs typeface="Times New Roman" panose="02020603050405020304" pitchFamily="18" charset="0"/>
              </a:rPr>
              <a:t> effect. </a:t>
            </a:r>
            <a:endParaRPr dirty="0">
              <a:latin typeface="Times New Roman" panose="02020603050405020304" pitchFamily="18" charset="0"/>
              <a:cs typeface="Times New Roman" panose="02020603050405020304" pitchFamily="18" charset="0"/>
            </a:endParaRPr>
          </a:p>
        </p:txBody>
      </p:sp>
      <p:pic>
        <p:nvPicPr>
          <p:cNvPr id="3" name="Picture 2" descr="A graph of a graph with blue and orange dots&#10;&#10;AI-generated content may be incorrect.">
            <a:extLst>
              <a:ext uri="{FF2B5EF4-FFF2-40B4-BE49-F238E27FC236}">
                <a16:creationId xmlns:a16="http://schemas.microsoft.com/office/drawing/2014/main" id="{E07B1C99-A1A0-732C-EA48-870799848890}"/>
              </a:ext>
            </a:extLst>
          </p:cNvPr>
          <p:cNvPicPr>
            <a:picLocks noChangeAspect="1"/>
          </p:cNvPicPr>
          <p:nvPr/>
        </p:nvPicPr>
        <p:blipFill>
          <a:blip r:embed="rId3"/>
          <a:stretch>
            <a:fillRect/>
          </a:stretch>
        </p:blipFill>
        <p:spPr>
          <a:xfrm>
            <a:off x="5626951" y="2109585"/>
            <a:ext cx="5758259" cy="4558906"/>
          </a:xfrm>
          <a:prstGeom prst="rect">
            <a:avLst/>
          </a:prstGeom>
        </p:spPr>
      </p:pic>
    </p:spTree>
    <p:extLst>
      <p:ext uri="{BB962C8B-B14F-4D97-AF65-F5344CB8AC3E}">
        <p14:creationId xmlns:p14="http://schemas.microsoft.com/office/powerpoint/2010/main" val="2027520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6" name="Google Shape;156;p9" descr="Immagine decorativa&#10;&#10;Lampadina. Rappresenta un'intuizione, un'idea."/>
          <p:cNvPicPr preferRelativeResize="0"/>
          <p:nvPr/>
        </p:nvPicPr>
        <p:blipFill rotWithShape="1">
          <a:blip r:embed="rId3">
            <a:alphaModFix/>
          </a:blip>
          <a:srcRect/>
          <a:stretch/>
        </p:blipFill>
        <p:spPr>
          <a:xfrm>
            <a:off x="0" y="1119358"/>
            <a:ext cx="1195243" cy="1188000"/>
          </a:xfrm>
          <a:prstGeom prst="rect">
            <a:avLst/>
          </a:prstGeom>
          <a:noFill/>
          <a:ln>
            <a:noFill/>
          </a:ln>
        </p:spPr>
      </p:pic>
      <p:pic>
        <p:nvPicPr>
          <p:cNvPr id="157" name="Google Shape;157;p9" descr="&#10;&#10;Ritratto di Leonardo Da Vinci"/>
          <p:cNvPicPr preferRelativeResize="0"/>
          <p:nvPr/>
        </p:nvPicPr>
        <p:blipFill rotWithShape="1">
          <a:blip r:embed="rId4">
            <a:alphaModFix/>
          </a:blip>
          <a:srcRect/>
          <a:stretch/>
        </p:blipFill>
        <p:spPr>
          <a:xfrm>
            <a:off x="9822060" y="2169224"/>
            <a:ext cx="2369940" cy="3559097"/>
          </a:xfrm>
          <a:prstGeom prst="rect">
            <a:avLst/>
          </a:prstGeom>
          <a:noFill/>
          <a:ln>
            <a:noFill/>
          </a:ln>
        </p:spPr>
      </p:pic>
      <p:sp>
        <p:nvSpPr>
          <p:cNvPr id="158" name="Google Shape;158;p9"/>
          <p:cNvSpPr txBox="1">
            <a:spLocks noGrp="1"/>
          </p:cNvSpPr>
          <p:nvPr>
            <p:ph type="body" idx="1"/>
          </p:nvPr>
        </p:nvSpPr>
        <p:spPr>
          <a:xfrm flipH="1">
            <a:off x="5696261" y="2905491"/>
            <a:ext cx="2350087" cy="64678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endParaRPr dirty="0"/>
          </a:p>
        </p:txBody>
      </p:sp>
      <p:pic>
        <p:nvPicPr>
          <p:cNvPr id="3" name="Picture 2" descr="A stick figure holding a flag&#10;&#10;AI-generated content may be incorrect.">
            <a:extLst>
              <a:ext uri="{FF2B5EF4-FFF2-40B4-BE49-F238E27FC236}">
                <a16:creationId xmlns:a16="http://schemas.microsoft.com/office/drawing/2014/main" id="{CDA9A0E6-BE86-8314-060E-BDD47C738575}"/>
              </a:ext>
            </a:extLst>
          </p:cNvPr>
          <p:cNvPicPr>
            <a:picLocks noChangeAspect="1"/>
          </p:cNvPicPr>
          <p:nvPr/>
        </p:nvPicPr>
        <p:blipFill>
          <a:blip r:embed="rId5"/>
          <a:stretch>
            <a:fillRect/>
          </a:stretch>
        </p:blipFill>
        <p:spPr>
          <a:xfrm>
            <a:off x="73748" y="2533064"/>
            <a:ext cx="2842654" cy="2285493"/>
          </a:xfrm>
          <a:prstGeom prst="rect">
            <a:avLst/>
          </a:prstGeom>
        </p:spPr>
      </p:pic>
      <p:pic>
        <p:nvPicPr>
          <p:cNvPr id="5" name="Picture 4" descr="A computer screen shot of a person wearing a hat and cape&#10;&#10;AI-generated content may be incorrect.">
            <a:extLst>
              <a:ext uri="{FF2B5EF4-FFF2-40B4-BE49-F238E27FC236}">
                <a16:creationId xmlns:a16="http://schemas.microsoft.com/office/drawing/2014/main" id="{A209F1E5-F9B7-2F85-00C1-AF1C54194C64}"/>
              </a:ext>
            </a:extLst>
          </p:cNvPr>
          <p:cNvPicPr>
            <a:picLocks noChangeAspect="1"/>
          </p:cNvPicPr>
          <p:nvPr/>
        </p:nvPicPr>
        <p:blipFill>
          <a:blip r:embed="rId6"/>
          <a:stretch>
            <a:fillRect/>
          </a:stretch>
        </p:blipFill>
        <p:spPr>
          <a:xfrm>
            <a:off x="217534" y="4994984"/>
            <a:ext cx="1487316" cy="1487316"/>
          </a:xfrm>
          <a:prstGeom prst="rect">
            <a:avLst/>
          </a:prstGeom>
        </p:spPr>
      </p:pic>
      <p:pic>
        <p:nvPicPr>
          <p:cNvPr id="7" name="Picture 6" descr="A yellow caution sign with black text and black text&#10;&#10;AI-generated content may be incorrect.">
            <a:extLst>
              <a:ext uri="{FF2B5EF4-FFF2-40B4-BE49-F238E27FC236}">
                <a16:creationId xmlns:a16="http://schemas.microsoft.com/office/drawing/2014/main" id="{86B16FA7-0C82-DB6C-A66A-15B01CE27431}"/>
              </a:ext>
            </a:extLst>
          </p:cNvPr>
          <p:cNvPicPr>
            <a:picLocks noChangeAspect="1"/>
          </p:cNvPicPr>
          <p:nvPr/>
        </p:nvPicPr>
        <p:blipFill>
          <a:blip r:embed="rId7"/>
          <a:stretch>
            <a:fillRect/>
          </a:stretch>
        </p:blipFill>
        <p:spPr>
          <a:xfrm>
            <a:off x="2916402" y="1101368"/>
            <a:ext cx="2267755" cy="157063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9B963FA4-3AA0-2F4B-BCB4-E5CBB2B32781}"/>
              </a:ext>
            </a:extLst>
          </p:cNvPr>
          <p:cNvPicPr>
            <a:picLocks noChangeAspect="1"/>
          </p:cNvPicPr>
          <p:nvPr/>
        </p:nvPicPr>
        <p:blipFill>
          <a:blip r:embed="rId8"/>
          <a:stretch>
            <a:fillRect/>
          </a:stretch>
        </p:blipFill>
        <p:spPr>
          <a:xfrm>
            <a:off x="2916402" y="2671998"/>
            <a:ext cx="5696261" cy="3202583"/>
          </a:xfrm>
          <a:prstGeom prst="rect">
            <a:avLst/>
          </a:prstGeom>
        </p:spPr>
      </p:pic>
      <p:pic>
        <p:nvPicPr>
          <p:cNvPr id="11" name="Picture 10" descr="A black t-shirt with yellow text&#10;&#10;AI-generated content may be incorrect.">
            <a:extLst>
              <a:ext uri="{FF2B5EF4-FFF2-40B4-BE49-F238E27FC236}">
                <a16:creationId xmlns:a16="http://schemas.microsoft.com/office/drawing/2014/main" id="{AC7E45BB-4F16-0DD9-12C7-B7B078BC91D7}"/>
              </a:ext>
            </a:extLst>
          </p:cNvPr>
          <p:cNvPicPr>
            <a:picLocks noChangeAspect="1"/>
          </p:cNvPicPr>
          <p:nvPr/>
        </p:nvPicPr>
        <p:blipFill>
          <a:blip r:embed="rId9"/>
          <a:stretch>
            <a:fillRect/>
          </a:stretch>
        </p:blipFill>
        <p:spPr>
          <a:xfrm>
            <a:off x="2626532" y="4795300"/>
            <a:ext cx="1841273" cy="1866043"/>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306D633A-EF03-593A-8123-522AD2A56042}"/>
              </a:ext>
            </a:extLst>
          </p:cNvPr>
          <p:cNvPicPr>
            <a:picLocks noChangeAspect="1"/>
          </p:cNvPicPr>
          <p:nvPr/>
        </p:nvPicPr>
        <p:blipFill>
          <a:blip r:embed="rId10"/>
          <a:stretch>
            <a:fillRect/>
          </a:stretch>
        </p:blipFill>
        <p:spPr>
          <a:xfrm>
            <a:off x="7007844" y="1081641"/>
            <a:ext cx="2814215" cy="2539948"/>
          </a:xfrm>
          <a:prstGeom prst="rect">
            <a:avLst/>
          </a:prstGeom>
        </p:spPr>
      </p:pic>
      <p:pic>
        <p:nvPicPr>
          <p:cNvPr id="15" name="Picture 14" descr="A computer screen shot of a cartoon&#10;&#10;AI-generated content may be incorrect.">
            <a:extLst>
              <a:ext uri="{FF2B5EF4-FFF2-40B4-BE49-F238E27FC236}">
                <a16:creationId xmlns:a16="http://schemas.microsoft.com/office/drawing/2014/main" id="{B8248AEA-4423-E6C6-BA0A-F00FF769B235}"/>
              </a:ext>
            </a:extLst>
          </p:cNvPr>
          <p:cNvPicPr>
            <a:picLocks noChangeAspect="1"/>
          </p:cNvPicPr>
          <p:nvPr/>
        </p:nvPicPr>
        <p:blipFill>
          <a:blip r:embed="rId11"/>
          <a:stretch>
            <a:fillRect/>
          </a:stretch>
        </p:blipFill>
        <p:spPr>
          <a:xfrm>
            <a:off x="7271951" y="4661092"/>
            <a:ext cx="2550108" cy="22313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a:spLocks noGrp="1"/>
          </p:cNvSpPr>
          <p:nvPr>
            <p:ph type="title" idx="4294967295"/>
          </p:nvPr>
        </p:nvSpPr>
        <p:spPr>
          <a:xfrm>
            <a:off x="838200" y="-1325563"/>
            <a:ext cx="10515600" cy="132556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400"/>
              <a:buFont typeface="Arial"/>
              <a:buNone/>
            </a:pPr>
            <a:r>
              <a:rPr lang="it-IT"/>
              <a:t>Università degli Studi di Padova</a:t>
            </a:r>
            <a:endParaRPr/>
          </a:p>
        </p:txBody>
      </p:sp>
    </p:spTree>
  </p:cSld>
  <p:clrMapOvr>
    <a:masterClrMapping/>
  </p:clrMapOvr>
</p:sld>
</file>

<file path=ppt/theme/theme1.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3</TotalTime>
  <Words>1538</Words>
  <Application>Microsoft Office PowerPoint</Application>
  <PresentationFormat>Widescreen</PresentationFormat>
  <Paragraphs>125</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Tema di Office</vt:lpstr>
      <vt:lpstr>Reaction Time Analysis in a Stroop Task: Individual, Subgroup, and Group-Level Visualizations using MATLAB</vt:lpstr>
      <vt:lpstr>The Stroop Task</vt:lpstr>
      <vt:lpstr>Task Conditions</vt:lpstr>
      <vt:lpstr>Dataset Overview</vt:lpstr>
      <vt:lpstr>Analysis and Visualization using MATLAB</vt:lpstr>
      <vt:lpstr>Part: 1 - Individual Participant Visualization</vt:lpstr>
      <vt:lpstr>Part: 1 - Individual Participant Visualization</vt:lpstr>
      <vt:lpstr>Part: 1 - Individual Participant Visualization</vt:lpstr>
      <vt:lpstr>Part: 1 - Individual Participant Visualization</vt:lpstr>
      <vt:lpstr>Part: 1 - Individual Participant Visualization</vt:lpstr>
      <vt:lpstr>Part: 1 - Individual Participant Visualization</vt:lpstr>
      <vt:lpstr>Part: 1 - Individual Participant Visualization</vt:lpstr>
      <vt:lpstr>Part: 2 - Odd vs Even Participant split data</vt:lpstr>
      <vt:lpstr>Part: 2 - Odd vs Even Participant split data</vt:lpstr>
      <vt:lpstr>Part: 2 - Odd vs Even Participant split data</vt:lpstr>
      <vt:lpstr>Part: 2 - Odd vs Even Participant split data</vt:lpstr>
      <vt:lpstr>Part: 3 - Pooled group level Visualization</vt:lpstr>
      <vt:lpstr>Part: 3 - Pooled group level Visualization</vt:lpstr>
      <vt:lpstr>PowerPoint Presentation</vt:lpstr>
      <vt:lpstr>Università degli Studi di Padova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Bocchi Giuliano</dc:creator>
  <cp:lastModifiedBy>Md Jobayer</cp:lastModifiedBy>
  <cp:revision>1</cp:revision>
  <dcterms:created xsi:type="dcterms:W3CDTF">2022-07-26T10:43:33Z</dcterms:created>
  <dcterms:modified xsi:type="dcterms:W3CDTF">2026-04-06T11:01:20Z</dcterms:modified>
</cp:coreProperties>
</file>